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3840480"/>
            <a:ext cx="9144360" cy="1280520"/>
          </a:xfrm>
          <a:custGeom>
            <a:avLst/>
            <a:gdLst/>
            <a:ahLst/>
            <a:rect l="0" t="0" r="r" b="b"/>
            <a:pathLst>
              <a:path w="25401" h="3557">
                <a:moveTo>
                  <a:pt x="0" y="0"/>
                </a:moveTo>
                <a:lnTo>
                  <a:pt x="25401" y="0"/>
                </a:lnTo>
                <a:lnTo>
                  <a:pt x="25401" y="3557"/>
                </a:lnTo>
                <a:lnTo>
                  <a:pt x="0" y="3557"/>
                </a:lnTo>
                <a:lnTo>
                  <a:pt x="0" y="0"/>
                </a:lnTo>
                <a:close/>
              </a:path>
            </a:pathLst>
          </a:custGeom>
          <a:solidFill>
            <a:srgbClr val="00797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502920" y="640080"/>
            <a:ext cx="8138160" cy="164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Workload-Driven Automated Index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Recommendation Using Machine Learning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502920" y="3931920"/>
            <a:ext cx="8138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Calibri-Bold"/>
                <a:ea typeface="Calibri-Bold"/>
              </a:rPr>
              <a:t>Sayem Sarwar · Majharul Islam Shanto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Department of Computer Science, Troy University 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OVERVIEW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Key Results at a Glance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11480" y="841320"/>
            <a:ext cx="832104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7979"/>
                </a:solidFill>
                <a:latin typeface="Calibri-Bold"/>
                <a:ea typeface="Calibri-Bold"/>
              </a:rPr>
              <a:t>911 queries  ·  30 EXPLAIN features  ·  No DBA input  ·  No runtime leakage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274320" y="1508760"/>
            <a:ext cx="1920600" cy="1006200"/>
          </a:xfrm>
          <a:custGeom>
            <a:avLst/>
            <a:gdLst/>
            <a:ahLst/>
            <a:rect l="0" t="0" r="r" b="b"/>
            <a:pathLst>
              <a:path w="5335" h="2795">
                <a:moveTo>
                  <a:pt x="5132" y="0"/>
                </a:moveTo>
                <a:cubicBezTo>
                  <a:pt x="5267" y="0"/>
                  <a:pt x="5335" y="68"/>
                  <a:pt x="5335" y="203"/>
                </a:cubicBezTo>
                <a:lnTo>
                  <a:pt x="5335" y="2592"/>
                </a:lnTo>
                <a:cubicBezTo>
                  <a:pt x="5335" y="2727"/>
                  <a:pt x="5267" y="2795"/>
                  <a:pt x="5132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5132" y="0"/>
                </a:lnTo>
                <a:close/>
              </a:path>
            </a:pathLst>
          </a:custGeom>
          <a:solidFill>
            <a:srgbClr val="0c1a29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65760" y="1581840"/>
            <a:ext cx="1737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00a8a8"/>
                </a:solidFill>
                <a:latin typeface="Calibri-Bold"/>
                <a:ea typeface="Calibri-Bold"/>
              </a:rPr>
              <a:t>99.45%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5760" y="2121480"/>
            <a:ext cx="17373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GB Accuracy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331720" y="1508760"/>
            <a:ext cx="1920600" cy="1006200"/>
          </a:xfrm>
          <a:custGeom>
            <a:avLst/>
            <a:gdLst/>
            <a:ahLst/>
            <a:rect l="0" t="0" r="r" b="b"/>
            <a:pathLst>
              <a:path w="5335" h="2795">
                <a:moveTo>
                  <a:pt x="5132" y="0"/>
                </a:moveTo>
                <a:cubicBezTo>
                  <a:pt x="5267" y="0"/>
                  <a:pt x="5335" y="68"/>
                  <a:pt x="5335" y="203"/>
                </a:cubicBezTo>
                <a:lnTo>
                  <a:pt x="5335" y="2592"/>
                </a:lnTo>
                <a:cubicBezTo>
                  <a:pt x="5335" y="2727"/>
                  <a:pt x="5267" y="2795"/>
                  <a:pt x="5132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5132" y="0"/>
                </a:lnTo>
                <a:close/>
              </a:path>
            </a:pathLst>
          </a:custGeom>
          <a:solidFill>
            <a:srgbClr val="0c1a29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423160" y="1581840"/>
            <a:ext cx="1737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1cb953"/>
                </a:solidFill>
                <a:latin typeface="Calibri-Bold"/>
                <a:ea typeface="Calibri-Bold"/>
              </a:rPr>
              <a:t>1.37×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423160" y="2121480"/>
            <a:ext cx="17373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Overall Speedup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389120" y="1508760"/>
            <a:ext cx="1920600" cy="1006200"/>
          </a:xfrm>
          <a:custGeom>
            <a:avLst/>
            <a:gdLst/>
            <a:ahLst/>
            <a:rect l="0" t="0" r="r" b="b"/>
            <a:pathLst>
              <a:path w="5335" h="2795">
                <a:moveTo>
                  <a:pt x="5132" y="0"/>
                </a:moveTo>
                <a:cubicBezTo>
                  <a:pt x="5267" y="0"/>
                  <a:pt x="5335" y="68"/>
                  <a:pt x="5335" y="203"/>
                </a:cubicBezTo>
                <a:lnTo>
                  <a:pt x="5335" y="2592"/>
                </a:lnTo>
                <a:cubicBezTo>
                  <a:pt x="5335" y="2727"/>
                  <a:pt x="5267" y="2795"/>
                  <a:pt x="5132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5132" y="0"/>
                </a:lnTo>
                <a:close/>
              </a:path>
            </a:pathLst>
          </a:custGeom>
          <a:solidFill>
            <a:srgbClr val="0c1a29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480560" y="1581840"/>
            <a:ext cx="1737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3398db"/>
                </a:solidFill>
                <a:latin typeface="Calibri-Bold"/>
                <a:ea typeface="Calibri-Bold"/>
              </a:rPr>
              <a:t>2.59×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480560" y="2121480"/>
            <a:ext cx="17373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Avg Per-Query Speedup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446520" y="1508760"/>
            <a:ext cx="1920600" cy="1006200"/>
          </a:xfrm>
          <a:custGeom>
            <a:avLst/>
            <a:gdLst/>
            <a:ahLst/>
            <a:rect l="0" t="0" r="r" b="b"/>
            <a:pathLst>
              <a:path w="5335" h="2795">
                <a:moveTo>
                  <a:pt x="5132" y="0"/>
                </a:moveTo>
                <a:cubicBezTo>
                  <a:pt x="5267" y="0"/>
                  <a:pt x="5335" y="68"/>
                  <a:pt x="5335" y="203"/>
                </a:cubicBezTo>
                <a:lnTo>
                  <a:pt x="5335" y="2592"/>
                </a:lnTo>
                <a:cubicBezTo>
                  <a:pt x="5335" y="2727"/>
                  <a:pt x="5267" y="2795"/>
                  <a:pt x="5132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5132" y="0"/>
                </a:lnTo>
                <a:close/>
              </a:path>
            </a:pathLst>
          </a:custGeom>
          <a:solidFill>
            <a:srgbClr val="0c1a29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537960" y="1581840"/>
            <a:ext cx="173736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f39c11"/>
                </a:solidFill>
                <a:latin typeface="Calibri-Bold"/>
                <a:ea typeface="Calibri-Bold"/>
              </a:rPr>
              <a:t>558.6×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537960" y="2121480"/>
            <a:ext cx="17373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Best Single Query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b9bad"/>
                </a:solidFill>
                <a:latin typeface="Calibri"/>
                <a:ea typeface="Calibri"/>
              </a:rPr>
              <a:t>AGG_Q029: 101.89ms → 0.18ms  |  22.1% of queries improved  |  25 indexes applied automatically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274320" y="3200400"/>
            <a:ext cx="8595360" cy="15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MOTIVATION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The Problem: Index Selection is Hard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74320" y="914400"/>
            <a:ext cx="4023720" cy="3017880"/>
          </a:xfrm>
          <a:custGeom>
            <a:avLst/>
            <a:gdLst/>
            <a:ahLst/>
            <a:rect l="0" t="0" r="r" b="b"/>
            <a:pathLst>
              <a:path w="11177" h="8383">
                <a:moveTo>
                  <a:pt x="10974" y="0"/>
                </a:moveTo>
                <a:cubicBezTo>
                  <a:pt x="11109" y="0"/>
                  <a:pt x="11177" y="68"/>
                  <a:pt x="11177" y="203"/>
                </a:cubicBezTo>
                <a:lnTo>
                  <a:pt x="11177" y="8179"/>
                </a:lnTo>
                <a:cubicBezTo>
                  <a:pt x="11177" y="8315"/>
                  <a:pt x="11109" y="8383"/>
                  <a:pt x="10974" y="8383"/>
                </a:cubicBezTo>
                <a:lnTo>
                  <a:pt x="203" y="8383"/>
                </a:lnTo>
                <a:cubicBezTo>
                  <a:pt x="68" y="8383"/>
                  <a:pt x="0" y="8315"/>
                  <a:pt x="0" y="817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0974" y="0"/>
                </a:lnTo>
                <a:close/>
              </a:path>
            </a:pathLst>
          </a:custGeom>
          <a:solidFill>
            <a:srgbClr val="fff0f0"/>
          </a:solidFill>
          <a:ln w="12600">
            <a:solidFill>
              <a:srgbClr val="e74b3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11480" y="960120"/>
            <a:ext cx="374904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e74b3b"/>
                </a:solidFill>
                <a:latin typeface="Calibri-Bold"/>
                <a:ea typeface="Calibri-Bold"/>
              </a:rPr>
              <a:t>The Challenge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11480" y="1371600"/>
            <a:ext cx="3657600" cy="246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Too few indexes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Full table scans → Very slow queries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Too many indexes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Slow inserts and updates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Manual selection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Needs expert DBA knowledge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Takes days or weeks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Reactive, not proactive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663440" y="914400"/>
            <a:ext cx="4023720" cy="3017880"/>
          </a:xfrm>
          <a:custGeom>
            <a:avLst/>
            <a:gdLst/>
            <a:ahLst/>
            <a:rect l="0" t="0" r="r" b="b"/>
            <a:pathLst>
              <a:path w="11177" h="8383">
                <a:moveTo>
                  <a:pt x="10974" y="0"/>
                </a:moveTo>
                <a:cubicBezTo>
                  <a:pt x="11109" y="0"/>
                  <a:pt x="11177" y="68"/>
                  <a:pt x="11177" y="203"/>
                </a:cubicBezTo>
                <a:lnTo>
                  <a:pt x="11177" y="8179"/>
                </a:lnTo>
                <a:cubicBezTo>
                  <a:pt x="11177" y="8315"/>
                  <a:pt x="11109" y="8383"/>
                  <a:pt x="10974" y="8383"/>
                </a:cubicBezTo>
                <a:lnTo>
                  <a:pt x="203" y="8383"/>
                </a:lnTo>
                <a:cubicBezTo>
                  <a:pt x="68" y="8383"/>
                  <a:pt x="0" y="8315"/>
                  <a:pt x="0" y="8179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0974" y="0"/>
                </a:lnTo>
                <a:close/>
              </a:path>
            </a:pathLst>
          </a:custGeom>
          <a:solidFill>
            <a:srgbClr val="f0fff0"/>
          </a:solidFill>
          <a:ln w="12600">
            <a:solidFill>
              <a:srgbClr val="1cb953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800600" y="960120"/>
            <a:ext cx="374904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7979"/>
                </a:solidFill>
                <a:latin typeface="Calibri-Bold"/>
                <a:ea typeface="Calibri-Bold"/>
              </a:rPr>
              <a:t>Existing Tools Fall Short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800600" y="1371600"/>
            <a:ext cx="3657600" cy="246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AutoAdmin (Microsoft)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Requires DBA-provided candidate sets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SQL Server cost model 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DB2 Design Advisor (IBM)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Requires DB2-specific cost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DBA must supply column candidates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07979"/>
                </a:solidFill>
                <a:latin typeface="Calibri-Bold"/>
                <a:ea typeface="Calibri-Bold"/>
              </a:rPr>
              <a:t>Our System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07979"/>
                </a:solidFill>
                <a:latin typeface="Calibri"/>
                <a:ea typeface="Calibri"/>
              </a:rPr>
              <a:t> → </a:t>
            </a:r>
            <a:r>
              <a:rPr b="0" lang="en-US" sz="1200" spc="-1" strike="noStrike">
                <a:solidFill>
                  <a:srgbClr val="007979"/>
                </a:solidFill>
                <a:latin typeface="Calibri"/>
                <a:ea typeface="Calibri"/>
              </a:rPr>
              <a:t>No DBA · No cost model · Automatic!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RESEARCH QUESTIONS &amp; CONTRIBUTIONS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Research Questions &amp; Contributions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74320" y="914400"/>
            <a:ext cx="914760" cy="457560"/>
          </a:xfrm>
          <a:custGeom>
            <a:avLst/>
            <a:gdLst/>
            <a:ahLst/>
            <a:rect l="0" t="0" r="r" b="b"/>
            <a:pathLst>
              <a:path w="2541" h="1271">
                <a:moveTo>
                  <a:pt x="2337" y="0"/>
                </a:moveTo>
                <a:cubicBezTo>
                  <a:pt x="2473" y="0"/>
                  <a:pt x="2541" y="68"/>
                  <a:pt x="2541" y="203"/>
                </a:cubicBezTo>
                <a:lnTo>
                  <a:pt x="2541" y="1067"/>
                </a:lnTo>
                <a:cubicBezTo>
                  <a:pt x="2541" y="1203"/>
                  <a:pt x="2473" y="1271"/>
                  <a:pt x="2337" y="1271"/>
                </a:cubicBezTo>
                <a:lnTo>
                  <a:pt x="203" y="1271"/>
                </a:lnTo>
                <a:cubicBezTo>
                  <a:pt x="68" y="1271"/>
                  <a:pt x="0" y="1203"/>
                  <a:pt x="0" y="106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2337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20040" y="914400"/>
            <a:ext cx="8229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Calibri-Bold"/>
                <a:ea typeface="Calibri-Bold"/>
              </a:rPr>
              <a:t>RQ1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417320" y="960120"/>
            <a:ext cx="329184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Can EXPLAIN features alone predict index need without runtime data?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74320" y="1554480"/>
            <a:ext cx="914760" cy="457560"/>
          </a:xfrm>
          <a:custGeom>
            <a:avLst/>
            <a:gdLst/>
            <a:ahLst/>
            <a:rect l="0" t="0" r="r" b="b"/>
            <a:pathLst>
              <a:path w="2541" h="1271">
                <a:moveTo>
                  <a:pt x="2337" y="0"/>
                </a:moveTo>
                <a:cubicBezTo>
                  <a:pt x="2473" y="0"/>
                  <a:pt x="2541" y="68"/>
                  <a:pt x="2541" y="203"/>
                </a:cubicBezTo>
                <a:lnTo>
                  <a:pt x="2541" y="1068"/>
                </a:lnTo>
                <a:cubicBezTo>
                  <a:pt x="2541" y="1203"/>
                  <a:pt x="2473" y="1271"/>
                  <a:pt x="2337" y="1271"/>
                </a:cubicBezTo>
                <a:lnTo>
                  <a:pt x="203" y="1271"/>
                </a:lnTo>
                <a:cubicBezTo>
                  <a:pt x="68" y="1271"/>
                  <a:pt x="0" y="1203"/>
                  <a:pt x="0" y="106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2337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20040" y="1554480"/>
            <a:ext cx="8229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Calibri-Bold"/>
                <a:ea typeface="Calibri-Bold"/>
              </a:rPr>
              <a:t>RQ2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417320" y="1600200"/>
            <a:ext cx="329184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Do ML-guided indexes yield measurable speedups on TPC-H?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74320" y="2194560"/>
            <a:ext cx="914760" cy="457560"/>
          </a:xfrm>
          <a:custGeom>
            <a:avLst/>
            <a:gdLst/>
            <a:ahLst/>
            <a:rect l="0" t="0" r="r" b="b"/>
            <a:pathLst>
              <a:path w="2541" h="1271">
                <a:moveTo>
                  <a:pt x="2337" y="0"/>
                </a:moveTo>
                <a:cubicBezTo>
                  <a:pt x="2473" y="0"/>
                  <a:pt x="2541" y="68"/>
                  <a:pt x="2541" y="203"/>
                </a:cubicBezTo>
                <a:lnTo>
                  <a:pt x="2541" y="1067"/>
                </a:lnTo>
                <a:cubicBezTo>
                  <a:pt x="2541" y="1203"/>
                  <a:pt x="2473" y="1271"/>
                  <a:pt x="2337" y="1271"/>
                </a:cubicBezTo>
                <a:lnTo>
                  <a:pt x="203" y="1271"/>
                </a:lnTo>
                <a:cubicBezTo>
                  <a:pt x="68" y="1271"/>
                  <a:pt x="0" y="1203"/>
                  <a:pt x="0" y="106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2337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20040" y="2194560"/>
            <a:ext cx="8229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Calibri-Bold"/>
                <a:ea typeface="Calibri-Bold"/>
              </a:rPr>
              <a:t>RQ3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417320" y="2240280"/>
            <a:ext cx="329184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How does improvement vary across query complexity types?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983480" y="822960"/>
            <a:ext cx="384048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7979"/>
                </a:solidFill>
                <a:latin typeface="Calibri-Bold"/>
                <a:ea typeface="Calibri-Bold"/>
              </a:rPr>
              <a:t>Key Contributions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931280" y="1278000"/>
            <a:ext cx="3840480" cy="10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1. 911-query TPC-H workload (vs. standard 22 queries)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2. 30 leakage-free EXPLAIN features — no runtime used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3. ML vs. 3 non-ML baselines + full ablation study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4. Fully automated pipeline — no DBA, no candidate 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5. 1.37× overall speedup validated end-to-end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METHODOLOGY — WORKLOAD DESIGN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TPC-H Workload Design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20040" y="804600"/>
            <a:ext cx="8503920" cy="26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MySQL 8.0.40  ·  TPC-H SF-1 (1GB)  ·  Apple M-series 16GB RAM  ·  8 tables · 1.59M rows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" name=""/>
          <p:cNvGraphicFramePr/>
          <p:nvPr/>
        </p:nvGraphicFramePr>
        <p:xfrm>
          <a:off x="274320" y="1097280"/>
          <a:ext cx="5029200" cy="2304360"/>
        </p:xfrm>
        <a:graphic>
          <a:graphicData uri="http://schemas.openxmlformats.org/drawingml/2006/table">
            <a:tbl>
              <a:tblPr/>
              <a:tblGrid>
                <a:gridCol w="1417320"/>
                <a:gridCol w="594360"/>
                <a:gridCol w="777240"/>
                <a:gridCol w="868680"/>
                <a:gridCol w="1371600"/>
              </a:tblGrid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Queries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Runtime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Needs Index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Insight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Single-Table Filters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69%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Moderate need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Two-Table Joins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161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Lowest index need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8FF"/>
                    </a:solidFill>
                  </a:tcPr>
                </a:tc>
              </a:tr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Three-Table Joins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662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A32D2D"/>
                          </a:solidFill>
                          <a:latin typeface="Calibri"/>
                        </a:rPr>
                        <a:t>90%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 index need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Aggregation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FF4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FF4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551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FF4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A32D2D"/>
                          </a:solidFill>
                          <a:latin typeface="Calibri"/>
                        </a:rPr>
                        <a:t>81%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FF4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007A7A"/>
                          </a:solidFill>
                          <a:latin typeface="Calibri"/>
                        </a:rPr>
                        <a:t>Best: 4.16×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4FFF4"/>
                    </a:solidFill>
                  </a:tcPr>
                </a:tc>
              </a:tr>
              <a:tr h="32904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Complex Queries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1,323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A32D2D"/>
                          </a:solidFill>
                          <a:latin typeface="Calibri"/>
                        </a:rPr>
                        <a:t>89%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 index need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12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607 ms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00A8A8"/>
                          </a:solidFill>
                          <a:latin typeface="Calibri"/>
                        </a:rPr>
                        <a:t>76.5%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100" b="1">
                          <a:solidFill>
                            <a:srgbClr val="00A8A8"/>
                          </a:solidFill>
                          <a:latin typeface="Calibri"/>
                        </a:rPr>
                        <a:t>906 successful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4920" marR="34920">
                    <a:lnL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  <a:prstDash val="solid"/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5440680" y="1097280"/>
            <a:ext cx="3429000" cy="1371600"/>
          </a:xfrm>
          <a:prstGeom prst="rect">
            <a:avLst/>
          </a:prstGeom>
          <a:ln w="0">
            <a:noFill/>
          </a:ln>
        </p:spPr>
      </p:pic>
      <p:pic>
        <p:nvPicPr>
          <p:cNvPr id="55" name="" descr=""/>
          <p:cNvPicPr/>
          <p:nvPr/>
        </p:nvPicPr>
        <p:blipFill>
          <a:blip r:embed="rId2"/>
          <a:stretch/>
        </p:blipFill>
        <p:spPr>
          <a:xfrm>
            <a:off x="5440680" y="2578680"/>
            <a:ext cx="3429000" cy="13716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74320" y="4041720"/>
            <a:ext cx="2012040" cy="658800"/>
          </a:xfrm>
          <a:custGeom>
            <a:avLst/>
            <a:gdLst/>
            <a:ahLst/>
            <a:rect l="0" t="0" r="r" b="b"/>
            <a:pathLst>
              <a:path w="5589" h="1830">
                <a:moveTo>
                  <a:pt x="5437" y="0"/>
                </a:moveTo>
                <a:cubicBezTo>
                  <a:pt x="5538" y="0"/>
                  <a:pt x="5589" y="51"/>
                  <a:pt x="5589" y="152"/>
                </a:cubicBezTo>
                <a:lnTo>
                  <a:pt x="5589" y="1678"/>
                </a:lnTo>
                <a:cubicBezTo>
                  <a:pt x="5589" y="1779"/>
                  <a:pt x="5538" y="1830"/>
                  <a:pt x="5437" y="1830"/>
                </a:cubicBezTo>
                <a:lnTo>
                  <a:pt x="152" y="1830"/>
                </a:lnTo>
                <a:cubicBezTo>
                  <a:pt x="51" y="1830"/>
                  <a:pt x="0" y="1779"/>
                  <a:pt x="0" y="1678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5437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65760" y="4069080"/>
            <a:ext cx="18288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911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65760" y="4352400"/>
            <a:ext cx="182880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df2"/>
                </a:solidFill>
                <a:latin typeface="Calibri"/>
                <a:ea typeface="Calibri"/>
              </a:rPr>
              <a:t>queries designed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423160" y="4041720"/>
            <a:ext cx="2012040" cy="658800"/>
          </a:xfrm>
          <a:custGeom>
            <a:avLst/>
            <a:gdLst/>
            <a:ahLst/>
            <a:rect l="0" t="0" r="r" b="b"/>
            <a:pathLst>
              <a:path w="5589" h="1830">
                <a:moveTo>
                  <a:pt x="5437" y="0"/>
                </a:moveTo>
                <a:cubicBezTo>
                  <a:pt x="5538" y="0"/>
                  <a:pt x="5589" y="51"/>
                  <a:pt x="5589" y="152"/>
                </a:cubicBezTo>
                <a:lnTo>
                  <a:pt x="5589" y="1678"/>
                </a:lnTo>
                <a:cubicBezTo>
                  <a:pt x="5589" y="1779"/>
                  <a:pt x="5538" y="1830"/>
                  <a:pt x="5437" y="1830"/>
                </a:cubicBezTo>
                <a:lnTo>
                  <a:pt x="152" y="1830"/>
                </a:lnTo>
                <a:cubicBezTo>
                  <a:pt x="51" y="1830"/>
                  <a:pt x="0" y="1779"/>
                  <a:pt x="0" y="1678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5437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514600" y="4069080"/>
            <a:ext cx="18288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906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514600" y="4352400"/>
            <a:ext cx="182880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df2"/>
                </a:solidFill>
                <a:latin typeface="Calibri"/>
                <a:ea typeface="Calibri"/>
              </a:rPr>
              <a:t>successfully ran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572000" y="4041720"/>
            <a:ext cx="2012040" cy="658800"/>
          </a:xfrm>
          <a:custGeom>
            <a:avLst/>
            <a:gdLst/>
            <a:ahLst/>
            <a:rect l="0" t="0" r="r" b="b"/>
            <a:pathLst>
              <a:path w="5589" h="1830">
                <a:moveTo>
                  <a:pt x="5437" y="0"/>
                </a:moveTo>
                <a:cubicBezTo>
                  <a:pt x="5538" y="0"/>
                  <a:pt x="5589" y="51"/>
                  <a:pt x="5589" y="152"/>
                </a:cubicBezTo>
                <a:lnTo>
                  <a:pt x="5589" y="1678"/>
                </a:lnTo>
                <a:cubicBezTo>
                  <a:pt x="5589" y="1779"/>
                  <a:pt x="5538" y="1830"/>
                  <a:pt x="5437" y="1830"/>
                </a:cubicBezTo>
                <a:lnTo>
                  <a:pt x="152" y="1830"/>
                </a:lnTo>
                <a:cubicBezTo>
                  <a:pt x="51" y="1830"/>
                  <a:pt x="0" y="1779"/>
                  <a:pt x="0" y="1678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5437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63440" y="4069080"/>
            <a:ext cx="18288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905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663440" y="4352400"/>
            <a:ext cx="182880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df2"/>
                </a:solidFill>
                <a:latin typeface="Calibri"/>
                <a:ea typeface="Calibri"/>
              </a:rPr>
              <a:t>compared before/after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720840" y="4041720"/>
            <a:ext cx="2012040" cy="658800"/>
          </a:xfrm>
          <a:custGeom>
            <a:avLst/>
            <a:gdLst/>
            <a:ahLst/>
            <a:rect l="0" t="0" r="r" b="b"/>
            <a:pathLst>
              <a:path w="5589" h="1830">
                <a:moveTo>
                  <a:pt x="5437" y="0"/>
                </a:moveTo>
                <a:cubicBezTo>
                  <a:pt x="5538" y="0"/>
                  <a:pt x="5589" y="51"/>
                  <a:pt x="5589" y="152"/>
                </a:cubicBezTo>
                <a:lnTo>
                  <a:pt x="5589" y="1678"/>
                </a:lnTo>
                <a:cubicBezTo>
                  <a:pt x="5589" y="1779"/>
                  <a:pt x="5538" y="1830"/>
                  <a:pt x="5437" y="1830"/>
                </a:cubicBezTo>
                <a:lnTo>
                  <a:pt x="152" y="1830"/>
                </a:lnTo>
                <a:cubicBezTo>
                  <a:pt x="51" y="1830"/>
                  <a:pt x="0" y="1779"/>
                  <a:pt x="0" y="1678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5437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812280" y="4069080"/>
            <a:ext cx="1828800" cy="35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76.5%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812280" y="4352400"/>
            <a:ext cx="182880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e8edf2"/>
                </a:solidFill>
                <a:latin typeface="Calibri"/>
                <a:ea typeface="Calibri"/>
              </a:rPr>
              <a:t>labeled needs index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METHODOLOGY — FEATURE EXTRACTION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30 Leakage-Free EXPLAIN Features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20040" y="804600"/>
            <a:ext cx="8503920" cy="26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All features from MySQL EXPLAIN only. Runtime deliberately excluded to prevent data leakage.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74320" y="1097280"/>
            <a:ext cx="1664640" cy="2880720"/>
          </a:xfrm>
          <a:custGeom>
            <a:avLst/>
            <a:gdLst/>
            <a:ahLst/>
            <a:rect l="0" t="0" r="r" b="b"/>
            <a:pathLst>
              <a:path w="4624" h="8002">
                <a:moveTo>
                  <a:pt x="4421" y="0"/>
                </a:moveTo>
                <a:cubicBezTo>
                  <a:pt x="4556" y="0"/>
                  <a:pt x="4624" y="68"/>
                  <a:pt x="4624" y="203"/>
                </a:cubicBezTo>
                <a:lnTo>
                  <a:pt x="4624" y="7798"/>
                </a:lnTo>
                <a:cubicBezTo>
                  <a:pt x="4624" y="7934"/>
                  <a:pt x="4556" y="8002"/>
                  <a:pt x="4421" y="8002"/>
                </a:cubicBezTo>
                <a:lnTo>
                  <a:pt x="203" y="8002"/>
                </a:lnTo>
                <a:cubicBezTo>
                  <a:pt x="68" y="8002"/>
                  <a:pt x="0" y="7934"/>
                  <a:pt x="0" y="779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21" y="0"/>
                </a:lnTo>
                <a:close/>
              </a:path>
            </a:pathLst>
          </a:custGeom>
          <a:solidFill>
            <a:srgbClr val="e8f4fd"/>
          </a:solidFill>
          <a:ln w="19080">
            <a:solidFill>
              <a:srgbClr val="3398db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65760" y="1143000"/>
            <a:ext cx="1481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3398db"/>
                </a:solidFill>
                <a:latin typeface="Calibri-Bold"/>
                <a:ea typeface="Calibri-Bold"/>
              </a:rPr>
              <a:t>Join Type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93120" y="153612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max_join_type_score (0=best, 11=ALL=worst)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93120" y="201168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has_full_scan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93120" y="248724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full_scan_table_count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93120" y="296280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has_index_scan, has_range_scan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030040" y="1097280"/>
            <a:ext cx="1664640" cy="2880720"/>
          </a:xfrm>
          <a:custGeom>
            <a:avLst/>
            <a:gdLst/>
            <a:ahLst/>
            <a:rect l="0" t="0" r="r" b="b"/>
            <a:pathLst>
              <a:path w="4624" h="8002">
                <a:moveTo>
                  <a:pt x="4421" y="0"/>
                </a:moveTo>
                <a:cubicBezTo>
                  <a:pt x="4556" y="0"/>
                  <a:pt x="4624" y="68"/>
                  <a:pt x="4624" y="203"/>
                </a:cubicBezTo>
                <a:lnTo>
                  <a:pt x="4624" y="7798"/>
                </a:lnTo>
                <a:cubicBezTo>
                  <a:pt x="4624" y="7934"/>
                  <a:pt x="4556" y="8002"/>
                  <a:pt x="4421" y="8002"/>
                </a:cubicBezTo>
                <a:lnTo>
                  <a:pt x="203" y="8002"/>
                </a:lnTo>
                <a:cubicBezTo>
                  <a:pt x="68" y="8002"/>
                  <a:pt x="0" y="7934"/>
                  <a:pt x="0" y="779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21" y="0"/>
                </a:lnTo>
                <a:close/>
              </a:path>
            </a:pathLst>
          </a:custGeom>
          <a:solidFill>
            <a:srgbClr val="eaf7ee"/>
          </a:solidFill>
          <a:ln w="19080">
            <a:solidFill>
              <a:srgbClr val="1cb953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121480" y="1143000"/>
            <a:ext cx="148140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Index Coverage ★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148840" y="153612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index_coverage_ratio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148840" y="201168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num_indexes_used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148840" y="248724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has_no_index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148840" y="296280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avg_possible_keys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785760" y="1097280"/>
            <a:ext cx="1664640" cy="2880720"/>
          </a:xfrm>
          <a:custGeom>
            <a:avLst/>
            <a:gdLst/>
            <a:ahLst/>
            <a:rect l="0" t="0" r="r" b="b"/>
            <a:pathLst>
              <a:path w="4624" h="8002">
                <a:moveTo>
                  <a:pt x="4421" y="0"/>
                </a:moveTo>
                <a:cubicBezTo>
                  <a:pt x="4556" y="0"/>
                  <a:pt x="4624" y="68"/>
                  <a:pt x="4624" y="203"/>
                </a:cubicBezTo>
                <a:lnTo>
                  <a:pt x="4624" y="7798"/>
                </a:lnTo>
                <a:cubicBezTo>
                  <a:pt x="4624" y="7934"/>
                  <a:pt x="4556" y="8002"/>
                  <a:pt x="4421" y="8002"/>
                </a:cubicBezTo>
                <a:lnTo>
                  <a:pt x="203" y="8002"/>
                </a:lnTo>
                <a:cubicBezTo>
                  <a:pt x="68" y="8002"/>
                  <a:pt x="0" y="7934"/>
                  <a:pt x="0" y="779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21" y="0"/>
                </a:lnTo>
                <a:close/>
              </a:path>
            </a:pathLst>
          </a:custGeom>
          <a:solidFill>
            <a:srgbClr val="fef9e7"/>
          </a:solidFill>
          <a:ln w="19080">
            <a:solidFill>
              <a:srgbClr val="f39c11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877200" y="1143000"/>
            <a:ext cx="1481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39c11"/>
                </a:solidFill>
                <a:latin typeface="Calibri-Bold"/>
                <a:ea typeface="Calibri-Bold"/>
              </a:rPr>
              <a:t>Row Estimates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904560" y="153612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total_rows_examined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904560" y="201168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max_rows_examined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904560" y="248724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log_rows_examined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904560" y="296280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rows_per_table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541120" y="1097280"/>
            <a:ext cx="1664640" cy="2880720"/>
          </a:xfrm>
          <a:custGeom>
            <a:avLst/>
            <a:gdLst/>
            <a:ahLst/>
            <a:rect l="0" t="0" r="r" b="b"/>
            <a:pathLst>
              <a:path w="4624" h="8002">
                <a:moveTo>
                  <a:pt x="4421" y="0"/>
                </a:moveTo>
                <a:cubicBezTo>
                  <a:pt x="4556" y="0"/>
                  <a:pt x="4624" y="68"/>
                  <a:pt x="4624" y="203"/>
                </a:cubicBezTo>
                <a:lnTo>
                  <a:pt x="4624" y="7798"/>
                </a:lnTo>
                <a:cubicBezTo>
                  <a:pt x="4624" y="7934"/>
                  <a:pt x="4556" y="8002"/>
                  <a:pt x="4421" y="8002"/>
                </a:cubicBezTo>
                <a:lnTo>
                  <a:pt x="203" y="8002"/>
                </a:lnTo>
                <a:cubicBezTo>
                  <a:pt x="68" y="8002"/>
                  <a:pt x="0" y="7934"/>
                  <a:pt x="0" y="779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21" y="0"/>
                </a:lnTo>
                <a:close/>
              </a:path>
            </a:pathLst>
          </a:custGeom>
          <a:solidFill>
            <a:srgbClr val="fdf2f8"/>
          </a:solidFill>
          <a:ln w="19080">
            <a:solidFill>
              <a:srgbClr val="9b58b6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632560" y="1143000"/>
            <a:ext cx="1481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9b58b6"/>
                </a:solidFill>
                <a:latin typeface="Calibri-Bold"/>
                <a:ea typeface="Calibri-Bold"/>
              </a:rPr>
              <a:t>Plan Flags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660280" y="153612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has_filesort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660280" y="201168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has_temp_table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660280" y="248724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has_using_index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660280" y="296280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has_using_where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296840" y="1097280"/>
            <a:ext cx="1664640" cy="2880720"/>
          </a:xfrm>
          <a:custGeom>
            <a:avLst/>
            <a:gdLst/>
            <a:ahLst/>
            <a:rect l="0" t="0" r="r" b="b"/>
            <a:pathLst>
              <a:path w="4624" h="8002">
                <a:moveTo>
                  <a:pt x="4421" y="0"/>
                </a:moveTo>
                <a:cubicBezTo>
                  <a:pt x="4556" y="0"/>
                  <a:pt x="4624" y="68"/>
                  <a:pt x="4624" y="203"/>
                </a:cubicBezTo>
                <a:lnTo>
                  <a:pt x="4624" y="7798"/>
                </a:lnTo>
                <a:cubicBezTo>
                  <a:pt x="4624" y="7934"/>
                  <a:pt x="4556" y="8002"/>
                  <a:pt x="4421" y="8002"/>
                </a:cubicBezTo>
                <a:lnTo>
                  <a:pt x="203" y="8002"/>
                </a:lnTo>
                <a:cubicBezTo>
                  <a:pt x="68" y="8002"/>
                  <a:pt x="0" y="7934"/>
                  <a:pt x="0" y="7798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4421" y="0"/>
                </a:lnTo>
                <a:close/>
              </a:path>
            </a:pathLst>
          </a:custGeom>
          <a:solidFill>
            <a:srgbClr val="f2f3f4"/>
          </a:solidFill>
          <a:ln w="19080">
            <a:solidFill>
              <a:srgbClr val="8b9ba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388280" y="1143000"/>
            <a:ext cx="1481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434343"/>
                </a:solidFill>
                <a:latin typeface="Calibri-Bold"/>
                <a:ea typeface="Calibri-Bold"/>
              </a:rPr>
              <a:t>Query Structure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415640" y="153612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num_tables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15640" y="201168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has_subquery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415640" y="248724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has_union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415640" y="2962800"/>
            <a:ext cx="142632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434343"/>
                </a:solidFill>
                <a:latin typeface="Calibri"/>
                <a:ea typeface="Calibri"/>
              </a:rPr>
              <a:t>· num_select_types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20040" y="4069080"/>
            <a:ext cx="8503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★ </a:t>
            </a:r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Index Coverage is the MOST CRITICAL group — ablation study confirms largest F1 drop when removed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METHODOLOGY — LABEL GENERATION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11480" y="274320"/>
            <a:ext cx="832104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Label Generation &amp; Statistical Validation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20040" y="804600"/>
            <a:ext cx="8503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07979"/>
                </a:solidFill>
                <a:latin typeface="Calibri-Bold"/>
                <a:ea typeface="Calibri-Bold"/>
              </a:rPr>
              <a:t>Labels derived ONLY from EXPLAIN signals — never from runtime (prevents leakage)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74320" y="1143000"/>
            <a:ext cx="384480" cy="293040"/>
          </a:xfrm>
          <a:custGeom>
            <a:avLst/>
            <a:gdLst/>
            <a:ahLst/>
            <a:rect l="0" t="0" r="r" b="b"/>
            <a:pathLst>
              <a:path w="1068" h="814">
                <a:moveTo>
                  <a:pt x="941" y="0"/>
                </a:moveTo>
                <a:cubicBezTo>
                  <a:pt x="1026" y="0"/>
                  <a:pt x="1068" y="42"/>
                  <a:pt x="1068" y="127"/>
                </a:cubicBezTo>
                <a:lnTo>
                  <a:pt x="1068" y="687"/>
                </a:lnTo>
                <a:cubicBezTo>
                  <a:pt x="1068" y="772"/>
                  <a:pt x="1026" y="814"/>
                  <a:pt x="941" y="814"/>
                </a:cubicBezTo>
                <a:lnTo>
                  <a:pt x="127" y="814"/>
                </a:lnTo>
                <a:cubicBezTo>
                  <a:pt x="42" y="814"/>
                  <a:pt x="0" y="772"/>
                  <a:pt x="0" y="687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941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20040" y="1143000"/>
            <a:ext cx="29268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(a)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22960" y="1179720"/>
            <a:ext cx="420624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Full table scan detected (type=ALL in EXPLAIN)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74320" y="1527120"/>
            <a:ext cx="384480" cy="293040"/>
          </a:xfrm>
          <a:custGeom>
            <a:avLst/>
            <a:gdLst/>
            <a:ahLst/>
            <a:rect l="0" t="0" r="r" b="b"/>
            <a:pathLst>
              <a:path w="1068" h="814">
                <a:moveTo>
                  <a:pt x="941" y="0"/>
                </a:moveTo>
                <a:cubicBezTo>
                  <a:pt x="1026" y="0"/>
                  <a:pt x="1068" y="42"/>
                  <a:pt x="1068" y="127"/>
                </a:cubicBezTo>
                <a:lnTo>
                  <a:pt x="1068" y="687"/>
                </a:lnTo>
                <a:cubicBezTo>
                  <a:pt x="1068" y="772"/>
                  <a:pt x="1026" y="814"/>
                  <a:pt x="941" y="814"/>
                </a:cubicBezTo>
                <a:lnTo>
                  <a:pt x="127" y="814"/>
                </a:lnTo>
                <a:cubicBezTo>
                  <a:pt x="42" y="814"/>
                  <a:pt x="0" y="772"/>
                  <a:pt x="0" y="687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941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0040" y="1527120"/>
            <a:ext cx="29268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(b)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22960" y="1563480"/>
            <a:ext cx="420624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No index used AND rows &gt; 60th percentile threshold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74320" y="1911240"/>
            <a:ext cx="384480" cy="293040"/>
          </a:xfrm>
          <a:custGeom>
            <a:avLst/>
            <a:gdLst/>
            <a:ahLst/>
            <a:rect l="0" t="0" r="r" b="b"/>
            <a:pathLst>
              <a:path w="1068" h="814">
                <a:moveTo>
                  <a:pt x="941" y="0"/>
                </a:moveTo>
                <a:cubicBezTo>
                  <a:pt x="1026" y="0"/>
                  <a:pt x="1068" y="42"/>
                  <a:pt x="1068" y="127"/>
                </a:cubicBezTo>
                <a:lnTo>
                  <a:pt x="1068" y="687"/>
                </a:lnTo>
                <a:cubicBezTo>
                  <a:pt x="1068" y="772"/>
                  <a:pt x="1026" y="814"/>
                  <a:pt x="941" y="814"/>
                </a:cubicBezTo>
                <a:lnTo>
                  <a:pt x="127" y="814"/>
                </a:lnTo>
                <a:cubicBezTo>
                  <a:pt x="42" y="814"/>
                  <a:pt x="0" y="772"/>
                  <a:pt x="0" y="687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941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20040" y="1911240"/>
            <a:ext cx="29268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(c)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22960" y="1947600"/>
            <a:ext cx="420624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filesort OR temp table detected with high row estimates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74320" y="2295000"/>
            <a:ext cx="384480" cy="293040"/>
          </a:xfrm>
          <a:custGeom>
            <a:avLst/>
            <a:gdLst/>
            <a:ahLst/>
            <a:rect l="0" t="0" r="r" b="b"/>
            <a:pathLst>
              <a:path w="1068" h="814">
                <a:moveTo>
                  <a:pt x="941" y="0"/>
                </a:moveTo>
                <a:cubicBezTo>
                  <a:pt x="1026" y="0"/>
                  <a:pt x="1068" y="42"/>
                  <a:pt x="1068" y="127"/>
                </a:cubicBezTo>
                <a:lnTo>
                  <a:pt x="1068" y="687"/>
                </a:lnTo>
                <a:cubicBezTo>
                  <a:pt x="1068" y="772"/>
                  <a:pt x="1026" y="814"/>
                  <a:pt x="941" y="814"/>
                </a:cubicBezTo>
                <a:lnTo>
                  <a:pt x="127" y="814"/>
                </a:lnTo>
                <a:cubicBezTo>
                  <a:pt x="42" y="814"/>
                  <a:pt x="0" y="772"/>
                  <a:pt x="0" y="687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941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20040" y="2295000"/>
            <a:ext cx="292680" cy="53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(d)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22960" y="2331720"/>
            <a:ext cx="420624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Multi-table join with index coverage ratio &lt; 0.5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74320" y="2697480"/>
            <a:ext cx="4938120" cy="1097640"/>
          </a:xfrm>
          <a:custGeom>
            <a:avLst/>
            <a:gdLst/>
            <a:ahLst/>
            <a:rect l="0" t="0" r="r" b="b"/>
            <a:pathLst>
              <a:path w="13717" h="3049">
                <a:moveTo>
                  <a:pt x="13514" y="0"/>
                </a:moveTo>
                <a:cubicBezTo>
                  <a:pt x="13649" y="0"/>
                  <a:pt x="13717" y="68"/>
                  <a:pt x="13717" y="203"/>
                </a:cubicBezTo>
                <a:lnTo>
                  <a:pt x="13717" y="2845"/>
                </a:lnTo>
                <a:cubicBezTo>
                  <a:pt x="13717" y="2981"/>
                  <a:pt x="13649" y="3049"/>
                  <a:pt x="13514" y="3049"/>
                </a:cubicBezTo>
                <a:lnTo>
                  <a:pt x="203" y="3049"/>
                </a:lnTo>
                <a:cubicBezTo>
                  <a:pt x="68" y="3049"/>
                  <a:pt x="0" y="2981"/>
                  <a:pt x="0" y="2845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3514" y="0"/>
                </a:lnTo>
                <a:close/>
              </a:path>
            </a:pathLst>
          </a:custGeom>
          <a:solidFill>
            <a:srgbClr val="eaf7ee"/>
          </a:solidFill>
          <a:ln w="19080">
            <a:solidFill>
              <a:srgbClr val="1cb953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57200" y="2743200"/>
            <a:ext cx="4572000" cy="9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693 / 906 queries labeled needs_index=1  (76.5%)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Avg runtime: </a:t>
            </a:r>
            <a:r>
              <a:rPr b="1" lang="en-US" sz="1200" spc="-1" strike="noStrike">
                <a:solidFill>
                  <a:srgbClr val="e74b3b"/>
                </a:solidFill>
                <a:latin typeface="Calibri-Bold"/>
                <a:ea typeface="Calibri-Bold"/>
              </a:rPr>
              <a:t>726.6ms (needs index)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vs </a:t>
            </a:r>
            <a:r>
              <a:rPr b="1" lang="en-US" sz="1200" spc="-1" strike="noStrike">
                <a:solidFill>
                  <a:srgbClr val="1cb953"/>
                </a:solidFill>
                <a:latin typeface="Calibri-Bold"/>
                <a:ea typeface="Calibri-Bold"/>
              </a:rPr>
              <a:t>226.0ms (no index)</a:t>
            </a:r>
            <a:r>
              <a:rPr b="0" lang="en-US" sz="1200" spc="-1" strike="noStrike">
                <a:solidFill>
                  <a:srgbClr val="545454"/>
                </a:solidFill>
                <a:latin typeface="Calibri"/>
                <a:ea typeface="Calibri"/>
              </a:rPr>
              <a:t> = 3.22× difference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007979"/>
                </a:solidFill>
                <a:latin typeface="Calibri-Bold"/>
                <a:ea typeface="Calibri-Bold"/>
              </a:rPr>
              <a:t>Mann-Whitney U = 93,225  p &lt; 0.001  → labels are statistically valid 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5394960" y="1005840"/>
            <a:ext cx="3566160" cy="292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ML EVALUATION — MODEL PERFORMANCE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ML Model Performance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20040" y="804600"/>
            <a:ext cx="8503920" cy="26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80/20 stratified split · 5-fold CV · 8% Gaussian noise on row features · Seeds fixed at 42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274320" y="1005840"/>
            <a:ext cx="5486400" cy="150876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274320" y="2606040"/>
            <a:ext cx="2651760" cy="146304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3"/>
          <a:stretch/>
        </p:blipFill>
        <p:spPr>
          <a:xfrm>
            <a:off x="3017520" y="2606040"/>
            <a:ext cx="2651760" cy="146304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5897880" y="1005840"/>
            <a:ext cx="2972160" cy="3063600"/>
          </a:xfrm>
          <a:custGeom>
            <a:avLst/>
            <a:gdLst/>
            <a:ahLst/>
            <a:rect l="0" t="0" r="r" b="b"/>
            <a:pathLst>
              <a:path w="8256" h="8510">
                <a:moveTo>
                  <a:pt x="8052" y="0"/>
                </a:moveTo>
                <a:cubicBezTo>
                  <a:pt x="8188" y="0"/>
                  <a:pt x="8256" y="68"/>
                  <a:pt x="8256" y="203"/>
                </a:cubicBezTo>
                <a:lnTo>
                  <a:pt x="8256" y="8307"/>
                </a:lnTo>
                <a:cubicBezTo>
                  <a:pt x="8256" y="8442"/>
                  <a:pt x="8188" y="8510"/>
                  <a:pt x="8052" y="8510"/>
                </a:cubicBezTo>
                <a:lnTo>
                  <a:pt x="203" y="8510"/>
                </a:lnTo>
                <a:cubicBezTo>
                  <a:pt x="68" y="8510"/>
                  <a:pt x="0" y="8442"/>
                  <a:pt x="0" y="830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8052" y="0"/>
                </a:lnTo>
                <a:close/>
              </a:path>
            </a:pathLst>
          </a:custGeom>
          <a:solidFill>
            <a:srgbClr val="0c1a29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035040" y="1078920"/>
            <a:ext cx="269748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a8a8"/>
                </a:solidFill>
                <a:latin typeface="Calibri-Bold"/>
                <a:ea typeface="Calibri-Bold"/>
              </a:rPr>
              <a:t>Why Gradient Boosting?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035040" y="1481400"/>
            <a:ext cx="914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00a8a8"/>
                </a:solidFill>
                <a:latin typeface="Calibri-Bold"/>
                <a:ea typeface="Calibri-Bold"/>
              </a:rPr>
              <a:t>0.9973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086600" y="1517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e8edf2"/>
                </a:solidFill>
                <a:latin typeface="Calibri"/>
                <a:ea typeface="Calibri"/>
              </a:rPr>
              <a:t>Highest CV F1 (±0.0022)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035040" y="2048400"/>
            <a:ext cx="914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00a8a8"/>
                </a:solidFill>
                <a:latin typeface="Calibri-Bold"/>
                <a:ea typeface="Calibri-Bold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086600" y="2084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e8edf2"/>
                </a:solidFill>
                <a:latin typeface="Calibri"/>
                <a:ea typeface="Calibri"/>
              </a:rPr>
              <a:t>Only 1 misclassification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035040" y="2615040"/>
            <a:ext cx="914400" cy="50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00a8a8"/>
                </a:solidFill>
                <a:latin typeface="Calibri-Bold"/>
                <a:ea typeface="Calibri-Bold"/>
              </a:rPr>
              <a:t>p=0.036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086600" y="2651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e8edf2"/>
                </a:solidFill>
                <a:latin typeface="Calibri"/>
                <a:ea typeface="Calibri"/>
              </a:rPr>
              <a:t>Beats SVM (t-test)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035040" y="3182040"/>
            <a:ext cx="914400" cy="34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00a8a8"/>
                </a:solidFill>
                <a:latin typeface="Calibri-Bold"/>
                <a:ea typeface="Calibri-Bold"/>
              </a:rPr>
              <a:t>1.000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086600" y="3218760"/>
            <a:ext cx="16002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e8edf2"/>
                </a:solidFill>
                <a:latin typeface="Calibri"/>
                <a:ea typeface="Calibri"/>
              </a:rPr>
              <a:t>ROC-AUC = perfect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ML EVALUATION — CONFUSION MATRICES &amp; ROC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Confusion Matrices — All Three Models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274320" y="914400"/>
            <a:ext cx="8595360" cy="228600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274320" y="3337560"/>
            <a:ext cx="2652120" cy="1006200"/>
          </a:xfrm>
          <a:custGeom>
            <a:avLst/>
            <a:gdLst/>
            <a:ahLst/>
            <a:rect l="0" t="0" r="r" b="b"/>
            <a:pathLst>
              <a:path w="7367" h="2795">
                <a:moveTo>
                  <a:pt x="7163" y="0"/>
                </a:moveTo>
                <a:cubicBezTo>
                  <a:pt x="7299" y="0"/>
                  <a:pt x="7367" y="68"/>
                  <a:pt x="7367" y="203"/>
                </a:cubicBezTo>
                <a:lnTo>
                  <a:pt x="7367" y="2592"/>
                </a:lnTo>
                <a:cubicBezTo>
                  <a:pt x="7367" y="2727"/>
                  <a:pt x="7299" y="2795"/>
                  <a:pt x="7163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7163" y="0"/>
                </a:lnTo>
                <a:close/>
              </a:path>
            </a:pathLst>
          </a:custGeom>
          <a:solidFill>
            <a:srgbClr val="fff0f0"/>
          </a:solidFill>
          <a:ln w="12600">
            <a:solidFill>
              <a:srgbClr val="e74b3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11480" y="3383280"/>
            <a:ext cx="23774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e74b3b"/>
                </a:solidFill>
                <a:latin typeface="Calibri-Bold"/>
                <a:ea typeface="Calibri-Bold"/>
              </a:rPr>
              <a:t>Random Forest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11480" y="3657600"/>
            <a:ext cx="2377440" cy="5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2 misclassifications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42 TN · 138 TP · 1 FP · 2 FN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246120" y="3337560"/>
            <a:ext cx="2652120" cy="1006200"/>
          </a:xfrm>
          <a:custGeom>
            <a:avLst/>
            <a:gdLst/>
            <a:ahLst/>
            <a:rect l="0" t="0" r="r" b="b"/>
            <a:pathLst>
              <a:path w="7367" h="2795">
                <a:moveTo>
                  <a:pt x="7163" y="0"/>
                </a:moveTo>
                <a:cubicBezTo>
                  <a:pt x="7299" y="0"/>
                  <a:pt x="7367" y="68"/>
                  <a:pt x="7367" y="203"/>
                </a:cubicBezTo>
                <a:lnTo>
                  <a:pt x="7367" y="2592"/>
                </a:lnTo>
                <a:cubicBezTo>
                  <a:pt x="7367" y="2727"/>
                  <a:pt x="7299" y="2795"/>
                  <a:pt x="7163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7163" y="0"/>
                </a:lnTo>
                <a:close/>
              </a:path>
            </a:pathLst>
          </a:custGeom>
          <a:solidFill>
            <a:srgbClr val="eaf7ee"/>
          </a:solidFill>
          <a:ln w="25560">
            <a:solidFill>
              <a:srgbClr val="1cb953"/>
            </a:solidFill>
            <a:round/>
          </a:ln>
        </p:spPr>
        <p:txBody>
          <a:bodyPr lIns="102600" rIns="102600" tIns="57600" bIns="576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383280" y="3383280"/>
            <a:ext cx="237744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1cb953"/>
                </a:solidFill>
                <a:latin typeface="Calibri-Bold"/>
                <a:ea typeface="Calibri-Bold"/>
              </a:rPr>
              <a:t>Gradient Boosting ✓ SELECTED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383280" y="3657600"/>
            <a:ext cx="2377440" cy="5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Only 1 misclassification!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42 TN · 139 TP · 1 FP · 0 FN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217920" y="3337560"/>
            <a:ext cx="2652120" cy="1006200"/>
          </a:xfrm>
          <a:custGeom>
            <a:avLst/>
            <a:gdLst/>
            <a:ahLst/>
            <a:rect l="0" t="0" r="r" b="b"/>
            <a:pathLst>
              <a:path w="7367" h="2795">
                <a:moveTo>
                  <a:pt x="7163" y="0"/>
                </a:moveTo>
                <a:cubicBezTo>
                  <a:pt x="7299" y="0"/>
                  <a:pt x="7367" y="68"/>
                  <a:pt x="7367" y="203"/>
                </a:cubicBezTo>
                <a:lnTo>
                  <a:pt x="7367" y="2592"/>
                </a:lnTo>
                <a:cubicBezTo>
                  <a:pt x="7367" y="2727"/>
                  <a:pt x="7299" y="2795"/>
                  <a:pt x="7163" y="2795"/>
                </a:cubicBezTo>
                <a:lnTo>
                  <a:pt x="203" y="2795"/>
                </a:lnTo>
                <a:cubicBezTo>
                  <a:pt x="68" y="2795"/>
                  <a:pt x="0" y="2727"/>
                  <a:pt x="0" y="2592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7163" y="0"/>
                </a:lnTo>
                <a:close/>
              </a:path>
            </a:pathLst>
          </a:custGeom>
          <a:solidFill>
            <a:srgbClr val="fff0f0"/>
          </a:solidFill>
          <a:ln w="12600">
            <a:solidFill>
              <a:srgbClr val="e74b3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355080" y="3383280"/>
            <a:ext cx="23774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e74b3b"/>
                </a:solidFill>
                <a:latin typeface="Calibri-Bold"/>
                <a:ea typeface="Calibri-Bold"/>
              </a:rPr>
              <a:t>SVM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355080" y="3657600"/>
            <a:ext cx="2377440" cy="5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2 misclassifications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100" spc="-1" strike="noStrike">
                <a:solidFill>
                  <a:srgbClr val="434343"/>
                </a:solidFill>
                <a:latin typeface="Calibri"/>
                <a:ea typeface="Calibri"/>
              </a:rPr>
              <a:t>40 TN · 138 TP · 1 FP · 3 FN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ML EVALUATION — FEATURE IMPORTANCE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Feature Importance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274320" y="914400"/>
            <a:ext cx="4754880" cy="3749040"/>
          </a:xfrm>
          <a:prstGeom prst="rect">
            <a:avLst/>
          </a:prstGeom>
          <a:ln w="0">
            <a:noFill/>
          </a:ln>
        </p:spPr>
      </p:pic>
      <p:sp>
        <p:nvSpPr>
          <p:cNvPr id="156" name=""/>
          <p:cNvSpPr txBox="1"/>
          <p:nvPr/>
        </p:nvSpPr>
        <p:spPr>
          <a:xfrm>
            <a:off x="5257800" y="914400"/>
            <a:ext cx="356616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c1a29"/>
                </a:solidFill>
                <a:latin typeface="Calibri-Bold"/>
                <a:ea typeface="Calibri-Bold"/>
              </a:rPr>
              <a:t>Top Features Tell the Story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212080" y="1371600"/>
            <a:ext cx="594720" cy="384480"/>
          </a:xfrm>
          <a:custGeom>
            <a:avLst/>
            <a:gdLst/>
            <a:ahLst/>
            <a:rect l="0" t="0" r="r" b="b"/>
            <a:pathLst>
              <a:path w="1652" h="1068">
                <a:moveTo>
                  <a:pt x="1500" y="0"/>
                </a:moveTo>
                <a:cubicBezTo>
                  <a:pt x="1601" y="0"/>
                  <a:pt x="1652" y="51"/>
                  <a:pt x="1652" y="152"/>
                </a:cubicBezTo>
                <a:lnTo>
                  <a:pt x="1652" y="916"/>
                </a:lnTo>
                <a:cubicBezTo>
                  <a:pt x="1652" y="1017"/>
                  <a:pt x="1601" y="1068"/>
                  <a:pt x="1500" y="1068"/>
                </a:cubicBezTo>
                <a:lnTo>
                  <a:pt x="152" y="1068"/>
                </a:lnTo>
                <a:cubicBezTo>
                  <a:pt x="51" y="1068"/>
                  <a:pt x="0" y="1017"/>
                  <a:pt x="0" y="916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1500" y="0"/>
                </a:lnTo>
                <a:close/>
              </a:path>
            </a:pathLst>
          </a:custGeom>
          <a:solidFill>
            <a:srgbClr val="e74b3b"/>
          </a:solidFill>
          <a:ln w="12600">
            <a:solidFill>
              <a:srgbClr val="e74b3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5257800" y="1371600"/>
            <a:ext cx="50292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~20%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943600" y="1371600"/>
            <a:ext cx="283464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c1a29"/>
                </a:solidFill>
                <a:latin typeface="Calibri-Bold"/>
                <a:ea typeface="Calibri-Bold"/>
              </a:rPr>
              <a:t>max_join_type_score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943600" y="1554480"/>
            <a:ext cx="28346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Worst join access type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(0=const, 11=ALL=full scan)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212080" y="1938600"/>
            <a:ext cx="594720" cy="384480"/>
          </a:xfrm>
          <a:custGeom>
            <a:avLst/>
            <a:gdLst/>
            <a:ahLst/>
            <a:rect l="0" t="0" r="r" b="b"/>
            <a:pathLst>
              <a:path w="1652" h="1068">
                <a:moveTo>
                  <a:pt x="1500" y="0"/>
                </a:moveTo>
                <a:cubicBezTo>
                  <a:pt x="1601" y="0"/>
                  <a:pt x="1652" y="51"/>
                  <a:pt x="1652" y="152"/>
                </a:cubicBezTo>
                <a:lnTo>
                  <a:pt x="1652" y="916"/>
                </a:lnTo>
                <a:cubicBezTo>
                  <a:pt x="1652" y="1017"/>
                  <a:pt x="1601" y="1068"/>
                  <a:pt x="1500" y="1068"/>
                </a:cubicBezTo>
                <a:lnTo>
                  <a:pt x="152" y="1068"/>
                </a:lnTo>
                <a:cubicBezTo>
                  <a:pt x="51" y="1068"/>
                  <a:pt x="0" y="1017"/>
                  <a:pt x="0" y="916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1500" y="0"/>
                </a:lnTo>
                <a:close/>
              </a:path>
            </a:pathLst>
          </a:custGeom>
          <a:solidFill>
            <a:srgbClr val="f39c11"/>
          </a:solidFill>
          <a:ln w="12600">
            <a:solidFill>
              <a:srgbClr val="f39c11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257800" y="1938600"/>
            <a:ext cx="50292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~15%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943600" y="1938600"/>
            <a:ext cx="283464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c1a29"/>
                </a:solidFill>
                <a:latin typeface="Calibri-Bold"/>
                <a:ea typeface="Calibri-Bold"/>
              </a:rPr>
              <a:t>has_full_scan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943600" y="2121480"/>
            <a:ext cx="28346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Direct full scan indicator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Strongest single signal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212080" y="2505600"/>
            <a:ext cx="594720" cy="384480"/>
          </a:xfrm>
          <a:custGeom>
            <a:avLst/>
            <a:gdLst/>
            <a:ahLst/>
            <a:rect l="0" t="0" r="r" b="b"/>
            <a:pathLst>
              <a:path w="1652" h="1068">
                <a:moveTo>
                  <a:pt x="1500" y="0"/>
                </a:moveTo>
                <a:cubicBezTo>
                  <a:pt x="1601" y="0"/>
                  <a:pt x="1652" y="51"/>
                  <a:pt x="1652" y="152"/>
                </a:cubicBezTo>
                <a:lnTo>
                  <a:pt x="1652" y="916"/>
                </a:lnTo>
                <a:cubicBezTo>
                  <a:pt x="1652" y="1017"/>
                  <a:pt x="1601" y="1068"/>
                  <a:pt x="1500" y="1068"/>
                </a:cubicBezTo>
                <a:lnTo>
                  <a:pt x="152" y="1068"/>
                </a:lnTo>
                <a:cubicBezTo>
                  <a:pt x="51" y="1068"/>
                  <a:pt x="0" y="1017"/>
                  <a:pt x="0" y="916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1500" y="0"/>
                </a:lnTo>
                <a:close/>
              </a:path>
            </a:pathLst>
          </a:custGeom>
          <a:solidFill>
            <a:srgbClr val="9b58b6"/>
          </a:solidFill>
          <a:ln w="12600">
            <a:solidFill>
              <a:srgbClr val="9b58b6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257800" y="2505600"/>
            <a:ext cx="50292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~15%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943600" y="2505600"/>
            <a:ext cx="283464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c1a29"/>
                </a:solidFill>
                <a:latin typeface="Calibri-Bold"/>
                <a:ea typeface="Calibri-Bold"/>
              </a:rPr>
              <a:t>full_scan_table_count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943600" y="2688480"/>
            <a:ext cx="28346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How many tables full scan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More = worse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212080" y="3072240"/>
            <a:ext cx="594720" cy="384480"/>
          </a:xfrm>
          <a:custGeom>
            <a:avLst/>
            <a:gdLst/>
            <a:ahLst/>
            <a:rect l="0" t="0" r="r" b="b"/>
            <a:pathLst>
              <a:path w="1652" h="1068">
                <a:moveTo>
                  <a:pt x="1500" y="0"/>
                </a:moveTo>
                <a:cubicBezTo>
                  <a:pt x="1601" y="0"/>
                  <a:pt x="1652" y="51"/>
                  <a:pt x="1652" y="152"/>
                </a:cubicBezTo>
                <a:lnTo>
                  <a:pt x="1652" y="916"/>
                </a:lnTo>
                <a:cubicBezTo>
                  <a:pt x="1652" y="1017"/>
                  <a:pt x="1601" y="1068"/>
                  <a:pt x="1500" y="1068"/>
                </a:cubicBezTo>
                <a:lnTo>
                  <a:pt x="152" y="1068"/>
                </a:lnTo>
                <a:cubicBezTo>
                  <a:pt x="51" y="1068"/>
                  <a:pt x="0" y="1017"/>
                  <a:pt x="0" y="916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1500" y="0"/>
                </a:lnTo>
                <a:close/>
              </a:path>
            </a:pathLst>
          </a:custGeom>
          <a:solidFill>
            <a:srgbClr val="3398db"/>
          </a:solidFill>
          <a:ln w="12600">
            <a:solidFill>
              <a:srgbClr val="3398d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257800" y="3072240"/>
            <a:ext cx="50292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~11%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943600" y="3072240"/>
            <a:ext cx="283464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c1a29"/>
                </a:solidFill>
                <a:latin typeface="Calibri-Bold"/>
                <a:ea typeface="Calibri-Bold"/>
              </a:rPr>
              <a:t>index_coverage_ratio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943600" y="3255120"/>
            <a:ext cx="28346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Fraction of tables using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an index (0=none, 1=all)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212080" y="3639240"/>
            <a:ext cx="594720" cy="384480"/>
          </a:xfrm>
          <a:custGeom>
            <a:avLst/>
            <a:gdLst/>
            <a:ahLst/>
            <a:rect l="0" t="0" r="r" b="b"/>
            <a:pathLst>
              <a:path w="1652" h="1068">
                <a:moveTo>
                  <a:pt x="1500" y="0"/>
                </a:moveTo>
                <a:cubicBezTo>
                  <a:pt x="1601" y="0"/>
                  <a:pt x="1652" y="51"/>
                  <a:pt x="1652" y="152"/>
                </a:cubicBezTo>
                <a:lnTo>
                  <a:pt x="1652" y="916"/>
                </a:lnTo>
                <a:cubicBezTo>
                  <a:pt x="1652" y="1017"/>
                  <a:pt x="1601" y="1068"/>
                  <a:pt x="1500" y="1068"/>
                </a:cubicBezTo>
                <a:lnTo>
                  <a:pt x="152" y="1068"/>
                </a:lnTo>
                <a:cubicBezTo>
                  <a:pt x="51" y="1068"/>
                  <a:pt x="0" y="1017"/>
                  <a:pt x="0" y="916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1500" y="0"/>
                </a:lnTo>
                <a:close/>
              </a:path>
            </a:pathLst>
          </a:custGeom>
          <a:solidFill>
            <a:srgbClr val="007979"/>
          </a:solidFill>
          <a:ln w="12600">
            <a:solidFill>
              <a:srgbClr val="007979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257800" y="3639240"/>
            <a:ext cx="50292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~6%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943600" y="3639240"/>
            <a:ext cx="2834640" cy="25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c1a29"/>
                </a:solidFill>
                <a:latin typeface="Calibri-Bold"/>
                <a:ea typeface="Calibri-Bold"/>
              </a:rPr>
              <a:t>log_rows_examined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943600" y="3822120"/>
            <a:ext cx="283464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Log of total rows checked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High = slow query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257800" y="4206240"/>
            <a:ext cx="356616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All top features are structural EXPLAIN properties — no runtime involved ✓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BASELINE COMPARISON &amp; ABLATION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Baseline Comparison &amp; Ablation Study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274320" y="914400"/>
            <a:ext cx="5303520" cy="1645920"/>
          </a:xfrm>
          <a:prstGeom prst="rect">
            <a:avLst/>
          </a:prstGeom>
          <a:ln w="0">
            <a:noFill/>
          </a:ln>
        </p:spPr>
      </p:pic>
      <p:pic>
        <p:nvPicPr>
          <p:cNvPr id="182" name="" descr=""/>
          <p:cNvPicPr/>
          <p:nvPr/>
        </p:nvPicPr>
        <p:blipFill>
          <a:blip r:embed="rId2"/>
          <a:stretch/>
        </p:blipFill>
        <p:spPr>
          <a:xfrm>
            <a:off x="274320" y="2651760"/>
            <a:ext cx="5303520" cy="1645920"/>
          </a:xfrm>
          <a:prstGeom prst="rect">
            <a:avLst/>
          </a:prstGeom>
          <a:ln w="0">
            <a:noFill/>
          </a:ln>
        </p:spPr>
      </p:pic>
      <p:sp>
        <p:nvSpPr>
          <p:cNvPr id="183" name=""/>
          <p:cNvSpPr txBox="1"/>
          <p:nvPr/>
        </p:nvSpPr>
        <p:spPr>
          <a:xfrm>
            <a:off x="5806440" y="914400"/>
            <a:ext cx="3063240" cy="3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c1a29"/>
                </a:solidFill>
                <a:latin typeface="Calibri-Bold"/>
                <a:ea typeface="Calibri-Bold"/>
              </a:rPr>
              <a:t>Why ML Beats Rules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760720" y="1371600"/>
            <a:ext cx="3155040" cy="384480"/>
          </a:xfrm>
          <a:custGeom>
            <a:avLst/>
            <a:gdLst/>
            <a:ahLst/>
            <a:rect l="0" t="0" r="r" b="b"/>
            <a:pathLst>
              <a:path w="8764" h="1068">
                <a:moveTo>
                  <a:pt x="0" y="0"/>
                </a:moveTo>
                <a:lnTo>
                  <a:pt x="8764" y="0"/>
                </a:lnTo>
                <a:lnTo>
                  <a:pt x="8764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ffebee"/>
          </a:solidFill>
          <a:ln w="6480">
            <a:solidFill>
              <a:srgbClr val="dddddd"/>
            </a:solidFill>
            <a:round/>
          </a:ln>
        </p:spPr>
        <p:txBody>
          <a:bodyPr lIns="93240" rIns="93240" tIns="48240" bIns="48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852160" y="1417320"/>
            <a:ext cx="11887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Join-Only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178040" y="1417320"/>
            <a:ext cx="64008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F1: 0.786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955280" y="1417320"/>
            <a:ext cx="68580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e74b3b"/>
                </a:solidFill>
                <a:latin typeface="Calibri"/>
                <a:ea typeface="Calibri"/>
              </a:rPr>
              <a:t>FN:30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760720" y="1810440"/>
            <a:ext cx="3155040" cy="384480"/>
          </a:xfrm>
          <a:custGeom>
            <a:avLst/>
            <a:gdLst/>
            <a:ahLst/>
            <a:rect l="0" t="0" r="r" b="b"/>
            <a:pathLst>
              <a:path w="8764" h="1068">
                <a:moveTo>
                  <a:pt x="0" y="0"/>
                </a:moveTo>
                <a:lnTo>
                  <a:pt x="8764" y="0"/>
                </a:lnTo>
                <a:lnTo>
                  <a:pt x="8764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fff3e0"/>
          </a:solidFill>
          <a:ln w="6480">
            <a:solidFill>
              <a:srgbClr val="dddddd"/>
            </a:solidFill>
            <a:round/>
          </a:ln>
        </p:spPr>
        <p:txBody>
          <a:bodyPr lIns="93240" rIns="93240" tIns="48240" bIns="48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852160" y="1856160"/>
            <a:ext cx="11887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Frequency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178040" y="1856160"/>
            <a:ext cx="64008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F1: 0.835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955280" y="1856160"/>
            <a:ext cx="68580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e74b3b"/>
                </a:solidFill>
                <a:latin typeface="Calibri"/>
                <a:ea typeface="Calibri"/>
              </a:rPr>
              <a:t>FN:39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760720" y="2249280"/>
            <a:ext cx="3155040" cy="384480"/>
          </a:xfrm>
          <a:custGeom>
            <a:avLst/>
            <a:gdLst/>
            <a:ahLst/>
            <a:rect l="0" t="0" r="r" b="b"/>
            <a:pathLst>
              <a:path w="8764" h="1068">
                <a:moveTo>
                  <a:pt x="0" y="0"/>
                </a:moveTo>
                <a:lnTo>
                  <a:pt x="8764" y="0"/>
                </a:lnTo>
                <a:lnTo>
                  <a:pt x="8764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fffde7"/>
          </a:solidFill>
          <a:ln w="6480">
            <a:solidFill>
              <a:srgbClr val="dddddd"/>
            </a:solidFill>
            <a:round/>
          </a:ln>
        </p:spPr>
        <p:txBody>
          <a:bodyPr lIns="93240" rIns="93240" tIns="48240" bIns="48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852160" y="2295000"/>
            <a:ext cx="11887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Rule-Based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178040" y="2295000"/>
            <a:ext cx="640080" cy="46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0c1a29"/>
                </a:solidFill>
                <a:latin typeface="Calibri"/>
                <a:ea typeface="Calibri"/>
              </a:rPr>
              <a:t>F1: 0.967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955280" y="2295000"/>
            <a:ext cx="68580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e74b3b"/>
                </a:solidFill>
                <a:latin typeface="Calibri"/>
                <a:ea typeface="Calibri"/>
              </a:rPr>
              <a:t>FN:9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760720" y="2688480"/>
            <a:ext cx="3155040" cy="384480"/>
          </a:xfrm>
          <a:custGeom>
            <a:avLst/>
            <a:gdLst/>
            <a:ahLst/>
            <a:rect l="0" t="0" r="r" b="b"/>
            <a:pathLst>
              <a:path w="8764" h="1068">
                <a:moveTo>
                  <a:pt x="0" y="0"/>
                </a:moveTo>
                <a:lnTo>
                  <a:pt x="8764" y="0"/>
                </a:lnTo>
                <a:lnTo>
                  <a:pt x="8764" y="1068"/>
                </a:lnTo>
                <a:lnTo>
                  <a:pt x="0" y="1068"/>
                </a:lnTo>
                <a:lnTo>
                  <a:pt x="0" y="0"/>
                </a:lnTo>
                <a:close/>
              </a:path>
            </a:pathLst>
          </a:custGeom>
          <a:solidFill>
            <a:srgbClr val="e8f5e9"/>
          </a:solidFill>
          <a:ln w="6480">
            <a:solidFill>
              <a:srgbClr val="dddddd"/>
            </a:solidFill>
            <a:round/>
          </a:ln>
        </p:spPr>
        <p:txBody>
          <a:bodyPr lIns="93240" rIns="93240" tIns="48240" bIns="482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852160" y="2734200"/>
            <a:ext cx="11887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1cb953"/>
                </a:solidFill>
                <a:latin typeface="Calibri-Bold"/>
                <a:ea typeface="Calibri-Bold"/>
              </a:rPr>
              <a:t>GB (Ours)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178040" y="2734200"/>
            <a:ext cx="640080" cy="62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1cb953"/>
                </a:solidFill>
                <a:latin typeface="Calibri-Bold"/>
                <a:ea typeface="Calibri-Bold"/>
              </a:rPr>
              <a:t>F1: 0.971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955280" y="2734200"/>
            <a:ext cx="68580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1cb953"/>
                </a:solidFill>
                <a:latin typeface="Calibri"/>
                <a:ea typeface="Calibri"/>
              </a:rPr>
              <a:t>FN:7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806440" y="3218760"/>
            <a:ext cx="3063240" cy="74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GB has fewest false negatives (7 vs 9)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→ </a:t>
            </a:r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catches more index-needing queries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806440" y="3749040"/>
            <a:ext cx="3063240" cy="74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07979"/>
                </a:solidFill>
                <a:latin typeface="Calibri-Bold"/>
                <a:ea typeface="Calibri-Bold"/>
              </a:rPr>
              <a:t>★ </a:t>
            </a:r>
            <a:r>
              <a:rPr b="1" lang="en-US" sz="1100" spc="-1" strike="noStrike">
                <a:solidFill>
                  <a:srgbClr val="007979"/>
                </a:solidFill>
                <a:latin typeface="Calibri-Bold"/>
                <a:ea typeface="Calibri-Bold"/>
              </a:rPr>
              <a:t>Ablation: Removing Index Coverage features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100" spc="-1" strike="noStrike">
                <a:solidFill>
                  <a:srgbClr val="007979"/>
                </a:solidFill>
                <a:latin typeface="Calibri-Bold"/>
                <a:ea typeface="Calibri-Bold"/>
              </a:rPr>
              <a:t>causes the LARGEST F1 drop (0.0035)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>
            <a:off x="0" y="0"/>
            <a:ext cx="9144360" cy="5143680"/>
          </a:xfrm>
          <a:custGeom>
            <a:avLst/>
            <a:gdLst/>
            <a:ahLst/>
            <a:rect l="0" t="0" r="r" b="b"/>
            <a:pathLst>
              <a:path w="25401" h="14288">
                <a:moveTo>
                  <a:pt x="0" y="0"/>
                </a:moveTo>
                <a:lnTo>
                  <a:pt x="25401" y="0"/>
                </a:lnTo>
                <a:lnTo>
                  <a:pt x="25401" y="14288"/>
                </a:lnTo>
                <a:lnTo>
                  <a:pt x="0" y="14288"/>
                </a:lnTo>
                <a:lnTo>
                  <a:pt x="0" y="0"/>
                </a:ln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0" y="0"/>
            <a:ext cx="9144360" cy="201600"/>
          </a:xfrm>
          <a:custGeom>
            <a:avLst/>
            <a:gdLst/>
            <a:ahLst/>
            <a:rect l="0" t="0" r="r" b="b"/>
            <a:pathLst>
              <a:path w="25401" h="560">
                <a:moveTo>
                  <a:pt x="0" y="0"/>
                </a:moveTo>
                <a:lnTo>
                  <a:pt x="25401" y="0"/>
                </a:lnTo>
                <a:lnTo>
                  <a:pt x="25401" y="560"/>
                </a:lnTo>
                <a:lnTo>
                  <a:pt x="0" y="56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37160" y="18360"/>
            <a:ext cx="886968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AUTOMATED INDEX PIPELINE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20040" y="237600"/>
            <a:ext cx="85039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400" spc="-1" strike="noStrike">
                <a:solidFill>
                  <a:srgbClr val="0c1a29"/>
                </a:solidFill>
                <a:latin typeface="Calibri-Bold"/>
                <a:ea typeface="Calibri-Bold"/>
              </a:rPr>
              <a:t>Automated Index Generation Pipeline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20124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1316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5888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7432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Parse SQL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74320" y="1325880"/>
            <a:ext cx="1243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Extract WHERE/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JOIN/GROUP BY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645920" y="1024200"/>
            <a:ext cx="36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07979"/>
                </a:solidFill>
                <a:latin typeface="Calibri"/>
                <a:ea typeface="Calibri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63692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214884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19456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71000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Run EXPLAIN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710000" y="1325880"/>
            <a:ext cx="1243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Detect full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scans &amp; features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081600" y="1024200"/>
            <a:ext cx="36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07979"/>
                </a:solidFill>
                <a:latin typeface="Calibri"/>
                <a:ea typeface="Calibri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07224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58452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63024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14568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ML Scoring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145680" y="1325880"/>
            <a:ext cx="1243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GB predicts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index need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517280" y="1024200"/>
            <a:ext cx="36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07979"/>
                </a:solidFill>
                <a:latin typeface="Calibri"/>
                <a:ea typeface="Calibri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50792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502020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06592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58100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Comp. Score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4581000" y="1325880"/>
            <a:ext cx="1243440" cy="41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freq×3 + ML×2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+clause×1.5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+scans×4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952600" y="1024200"/>
            <a:ext cx="36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07979"/>
                </a:solidFill>
                <a:latin typeface="Calibri"/>
                <a:ea typeface="Calibri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594360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45552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50124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01668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Rank &amp; Tier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016680" y="1325880"/>
            <a:ext cx="1243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Assign HIGH/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MEDIUM/LOW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388280" y="1024200"/>
            <a:ext cx="360" cy="229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900" spc="-1" strike="noStrike">
                <a:solidFill>
                  <a:srgbClr val="007979"/>
                </a:solidFill>
                <a:latin typeface="Calibri"/>
                <a:ea typeface="Calibri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7379280" y="749880"/>
            <a:ext cx="1390320" cy="869040"/>
          </a:xfrm>
          <a:custGeom>
            <a:avLst/>
            <a:gdLst/>
            <a:ahLst/>
            <a:rect l="0" t="0" r="r" b="b"/>
            <a:pathLst>
              <a:path w="3862" h="2414">
                <a:moveTo>
                  <a:pt x="0" y="0"/>
                </a:moveTo>
                <a:lnTo>
                  <a:pt x="3862" y="0"/>
                </a:lnTo>
                <a:lnTo>
                  <a:pt x="3862" y="2414"/>
                </a:lnTo>
                <a:lnTo>
                  <a:pt x="0" y="2414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891200" y="786240"/>
            <a:ext cx="347760" cy="320400"/>
          </a:xfrm>
          <a:custGeom>
            <a:avLst/>
            <a:gdLst/>
            <a:ahLst/>
            <a:rect l="0" t="0" r="r" b="b"/>
            <a:pathLst>
              <a:path w="966" h="890">
                <a:moveTo>
                  <a:pt x="0" y="0"/>
                </a:moveTo>
                <a:lnTo>
                  <a:pt x="966" y="0"/>
                </a:lnTo>
                <a:lnTo>
                  <a:pt x="966" y="890"/>
                </a:lnTo>
                <a:lnTo>
                  <a:pt x="0" y="890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936920" y="786240"/>
            <a:ext cx="255960" cy="30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0c1a29"/>
                </a:solidFill>
                <a:latin typeface="Calibri-Bold"/>
                <a:ea typeface="Calibri-Bold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452360" y="1115640"/>
            <a:ext cx="12434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00a8a8"/>
                </a:solidFill>
                <a:latin typeface="Calibri-Bold"/>
                <a:ea typeface="Calibri-Bold"/>
              </a:rPr>
              <a:t>Apply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452360" y="1325880"/>
            <a:ext cx="12434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Create indexes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700" spc="-1" strike="noStrike">
                <a:solidFill>
                  <a:srgbClr val="cccccc"/>
                </a:solidFill>
                <a:latin typeface="Calibri"/>
                <a:ea typeface="Calibri"/>
              </a:rPr>
              <a:t>automatically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28600" y="1691640"/>
            <a:ext cx="2012040" cy="439200"/>
          </a:xfrm>
          <a:custGeom>
            <a:avLst/>
            <a:gdLst/>
            <a:ahLst/>
            <a:rect l="0" t="0" r="r" b="b"/>
            <a:pathLst>
              <a:path w="5589" h="1220">
                <a:moveTo>
                  <a:pt x="0" y="0"/>
                </a:moveTo>
                <a:lnTo>
                  <a:pt x="5589" y="0"/>
                </a:lnTo>
                <a:lnTo>
                  <a:pt x="558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7979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20040" y="1710000"/>
            <a:ext cx="18288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00a8a8"/>
                </a:solidFill>
                <a:latin typeface="Calibri-Bold"/>
                <a:ea typeface="Calibri-Bold"/>
              </a:rPr>
              <a:t>6,311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20040" y="1938600"/>
            <a:ext cx="1828800" cy="21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cccccc"/>
                </a:solidFill>
                <a:latin typeface="Calibri"/>
                <a:ea typeface="Calibri"/>
              </a:rPr>
              <a:t>col refs extracted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2404800" y="1691640"/>
            <a:ext cx="2012040" cy="439200"/>
          </a:xfrm>
          <a:custGeom>
            <a:avLst/>
            <a:gdLst/>
            <a:ahLst/>
            <a:rect l="0" t="0" r="r" b="b"/>
            <a:pathLst>
              <a:path w="5589" h="1220">
                <a:moveTo>
                  <a:pt x="0" y="0"/>
                </a:moveTo>
                <a:lnTo>
                  <a:pt x="5589" y="0"/>
                </a:lnTo>
                <a:lnTo>
                  <a:pt x="558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7979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496240" y="1710000"/>
            <a:ext cx="18288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00a8a8"/>
                </a:solidFill>
                <a:latin typeface="Calibri-Bold"/>
                <a:ea typeface="Calibri-Bold"/>
              </a:rPr>
              <a:t>50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496240" y="1938600"/>
            <a:ext cx="1828800" cy="21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cccccc"/>
                </a:solidFill>
                <a:latin typeface="Calibri"/>
                <a:ea typeface="Calibri"/>
              </a:rPr>
              <a:t>unique candidates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4581000" y="1691640"/>
            <a:ext cx="2012040" cy="439200"/>
          </a:xfrm>
          <a:custGeom>
            <a:avLst/>
            <a:gdLst/>
            <a:ahLst/>
            <a:rect l="0" t="0" r="r" b="b"/>
            <a:pathLst>
              <a:path w="5589" h="1220">
                <a:moveTo>
                  <a:pt x="0" y="0"/>
                </a:moveTo>
                <a:lnTo>
                  <a:pt x="5589" y="0"/>
                </a:lnTo>
                <a:lnTo>
                  <a:pt x="558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7979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672440" y="1710000"/>
            <a:ext cx="18288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00a8a8"/>
                </a:solidFill>
                <a:latin typeface="Calibri-Bold"/>
                <a:ea typeface="Calibri-Bold"/>
              </a:rPr>
              <a:t>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672440" y="1938600"/>
            <a:ext cx="1828800" cy="21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cccccc"/>
                </a:solidFill>
                <a:latin typeface="Calibri"/>
                <a:ea typeface="Calibri"/>
              </a:rPr>
              <a:t>new indexes applied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757560" y="1691640"/>
            <a:ext cx="2012040" cy="439200"/>
          </a:xfrm>
          <a:custGeom>
            <a:avLst/>
            <a:gdLst/>
            <a:ahLst/>
            <a:rect l="0" t="0" r="r" b="b"/>
            <a:pathLst>
              <a:path w="5589" h="1220">
                <a:moveTo>
                  <a:pt x="0" y="0"/>
                </a:moveTo>
                <a:lnTo>
                  <a:pt x="5589" y="0"/>
                </a:lnTo>
                <a:lnTo>
                  <a:pt x="5589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7979"/>
            </a:solidFill>
            <a:miter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849000" y="1710000"/>
            <a:ext cx="18288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00a8a8"/>
                </a:solidFill>
                <a:latin typeface="Calibri-Bold"/>
                <a:ea typeface="Calibri-Bold"/>
              </a:rPr>
              <a:t>~26 min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849000" y="1938600"/>
            <a:ext cx="1828800" cy="21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800" spc="-1" strike="noStrike">
                <a:solidFill>
                  <a:srgbClr val="cccccc"/>
                </a:solidFill>
                <a:latin typeface="Calibri"/>
                <a:ea typeface="Calibri"/>
              </a:rPr>
              <a:t>pipeline overhead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91440" y="2212920"/>
            <a:ext cx="8961120" cy="283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RESULTS — BEFORE VS. AFTER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411480" y="274320"/>
            <a:ext cx="832104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Before vs. After Performance (905 Queries)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274320" y="914400"/>
            <a:ext cx="2560680" cy="1189080"/>
          </a:xfrm>
          <a:custGeom>
            <a:avLst/>
            <a:gdLst/>
            <a:ahLst/>
            <a:rect l="0" t="0" r="r" b="b"/>
            <a:pathLst>
              <a:path w="7113" h="3303">
                <a:moveTo>
                  <a:pt x="6909" y="0"/>
                </a:moveTo>
                <a:cubicBezTo>
                  <a:pt x="7045" y="0"/>
                  <a:pt x="7113" y="68"/>
                  <a:pt x="7113" y="203"/>
                </a:cubicBezTo>
                <a:lnTo>
                  <a:pt x="7113" y="3100"/>
                </a:lnTo>
                <a:cubicBezTo>
                  <a:pt x="7113" y="3235"/>
                  <a:pt x="7045" y="3303"/>
                  <a:pt x="6909" y="3303"/>
                </a:cubicBezTo>
                <a:lnTo>
                  <a:pt x="203" y="3303"/>
                </a:lnTo>
                <a:cubicBezTo>
                  <a:pt x="68" y="3303"/>
                  <a:pt x="0" y="3235"/>
                  <a:pt x="0" y="3100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6909" y="0"/>
                </a:lnTo>
                <a:close/>
              </a:path>
            </a:pathLst>
          </a:custGeom>
          <a:solidFill>
            <a:srgbClr val="fff0f0"/>
          </a:solidFill>
          <a:ln w="19080">
            <a:solidFill>
              <a:srgbClr val="e74b3b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11480" y="960120"/>
            <a:ext cx="22860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e74b3b"/>
                </a:solidFill>
                <a:latin typeface="Calibri-Bold"/>
                <a:ea typeface="Calibri-Bold"/>
              </a:rPr>
              <a:t>BEFORE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11480" y="1234440"/>
            <a:ext cx="228600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e74b3b"/>
                </a:solidFill>
                <a:latin typeface="Calibri-Bold"/>
                <a:ea typeface="Calibri-Bold"/>
              </a:rPr>
              <a:t>550,091 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11480" y="1645920"/>
            <a:ext cx="22860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9.2 minutes total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971800" y="1234440"/>
            <a:ext cx="1280160" cy="88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→  </a:t>
            </a:r>
            <a:r>
              <a:rPr b="1" lang="en-US" sz="1800" spc="-1" strike="noStrike">
                <a:solidFill>
                  <a:srgbClr val="00a8a8"/>
                </a:solidFill>
                <a:latin typeface="Calibri-Bold"/>
                <a:ea typeface="Calibri-Bold"/>
              </a:rPr>
              <a:t>1.37×  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4389120" y="914400"/>
            <a:ext cx="2560680" cy="1189080"/>
          </a:xfrm>
          <a:custGeom>
            <a:avLst/>
            <a:gdLst/>
            <a:ahLst/>
            <a:rect l="0" t="0" r="r" b="b"/>
            <a:pathLst>
              <a:path w="7113" h="3303">
                <a:moveTo>
                  <a:pt x="6909" y="0"/>
                </a:moveTo>
                <a:cubicBezTo>
                  <a:pt x="7045" y="0"/>
                  <a:pt x="7113" y="68"/>
                  <a:pt x="7113" y="203"/>
                </a:cubicBezTo>
                <a:lnTo>
                  <a:pt x="7113" y="3100"/>
                </a:lnTo>
                <a:cubicBezTo>
                  <a:pt x="7113" y="3235"/>
                  <a:pt x="7045" y="3303"/>
                  <a:pt x="6909" y="3303"/>
                </a:cubicBezTo>
                <a:lnTo>
                  <a:pt x="203" y="3303"/>
                </a:lnTo>
                <a:cubicBezTo>
                  <a:pt x="68" y="3303"/>
                  <a:pt x="0" y="3235"/>
                  <a:pt x="0" y="3100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6909" y="0"/>
                </a:lnTo>
                <a:close/>
              </a:path>
            </a:pathLst>
          </a:custGeom>
          <a:solidFill>
            <a:srgbClr val="eaf7ee"/>
          </a:solidFill>
          <a:ln w="19080">
            <a:solidFill>
              <a:srgbClr val="1cb953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526280" y="960120"/>
            <a:ext cx="22860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1cb953"/>
                </a:solidFill>
                <a:latin typeface="Calibri-Bold"/>
                <a:ea typeface="Calibri-Bold"/>
              </a:rPr>
              <a:t>AFTER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4526280" y="1234440"/>
            <a:ext cx="2286000" cy="41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800" spc="-1" strike="noStrike">
                <a:solidFill>
                  <a:srgbClr val="1cb953"/>
                </a:solidFill>
                <a:latin typeface="Calibri-Bold"/>
                <a:ea typeface="Calibri-Bold"/>
              </a:rPr>
              <a:t>401,731 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526280" y="1645920"/>
            <a:ext cx="228600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6.7 minutes total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7223760" y="914400"/>
            <a:ext cx="1646280" cy="347760"/>
          </a:xfrm>
          <a:custGeom>
            <a:avLst/>
            <a:gdLst/>
            <a:ahLst/>
            <a:rect l="0" t="0" r="r" b="b"/>
            <a:pathLst>
              <a:path w="4573" h="966">
                <a:moveTo>
                  <a:pt x="4445" y="0"/>
                </a:moveTo>
                <a:cubicBezTo>
                  <a:pt x="4530" y="0"/>
                  <a:pt x="4573" y="42"/>
                  <a:pt x="4573" y="127"/>
                </a:cubicBezTo>
                <a:lnTo>
                  <a:pt x="4573" y="839"/>
                </a:lnTo>
                <a:cubicBezTo>
                  <a:pt x="4573" y="924"/>
                  <a:pt x="4530" y="966"/>
                  <a:pt x="4445" y="966"/>
                </a:cubicBezTo>
                <a:lnTo>
                  <a:pt x="127" y="966"/>
                </a:lnTo>
                <a:cubicBezTo>
                  <a:pt x="42" y="966"/>
                  <a:pt x="0" y="924"/>
                  <a:pt x="0" y="839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4445" y="0"/>
                </a:lnTo>
                <a:close/>
              </a:path>
            </a:pathLst>
          </a:custGeom>
          <a:solidFill>
            <a:srgbClr val="eaf7ee"/>
          </a:solidFill>
          <a:ln w="12600">
            <a:solidFill>
              <a:srgbClr val="1cb953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315200" y="951120"/>
            <a:ext cx="1463040" cy="5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1cb953"/>
                </a:solidFill>
                <a:latin typeface="Calibri-Bold"/>
                <a:ea typeface="Calibri-Bold"/>
              </a:rPr>
              <a:t>22.1%  Improved (&gt;5% faster)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7223760" y="1325880"/>
            <a:ext cx="1646280" cy="347760"/>
          </a:xfrm>
          <a:custGeom>
            <a:avLst/>
            <a:gdLst/>
            <a:ahLst/>
            <a:rect l="0" t="0" r="r" b="b"/>
            <a:pathLst>
              <a:path w="4573" h="966">
                <a:moveTo>
                  <a:pt x="4445" y="0"/>
                </a:moveTo>
                <a:cubicBezTo>
                  <a:pt x="4530" y="0"/>
                  <a:pt x="4573" y="42"/>
                  <a:pt x="4573" y="127"/>
                </a:cubicBezTo>
                <a:lnTo>
                  <a:pt x="4573" y="839"/>
                </a:lnTo>
                <a:cubicBezTo>
                  <a:pt x="4573" y="924"/>
                  <a:pt x="4530" y="966"/>
                  <a:pt x="4445" y="966"/>
                </a:cubicBezTo>
                <a:lnTo>
                  <a:pt x="127" y="966"/>
                </a:lnTo>
                <a:cubicBezTo>
                  <a:pt x="42" y="966"/>
                  <a:pt x="0" y="924"/>
                  <a:pt x="0" y="839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4445" y="0"/>
                </a:lnTo>
                <a:close/>
              </a:path>
            </a:pathLst>
          </a:custGeom>
          <a:solidFill>
            <a:srgbClr val="fef9e7"/>
          </a:solidFill>
          <a:ln w="12600">
            <a:solidFill>
              <a:srgbClr val="f39c11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315200" y="1362600"/>
            <a:ext cx="1463040" cy="57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f39c11"/>
                </a:solidFill>
                <a:latin typeface="Calibri-Bold"/>
                <a:ea typeface="Calibri-Bold"/>
              </a:rPr>
              <a:t>74.9%  Unchanged (±5%)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7223760" y="1737360"/>
            <a:ext cx="1646280" cy="347760"/>
          </a:xfrm>
          <a:custGeom>
            <a:avLst/>
            <a:gdLst/>
            <a:ahLst/>
            <a:rect l="0" t="0" r="r" b="b"/>
            <a:pathLst>
              <a:path w="4573" h="966">
                <a:moveTo>
                  <a:pt x="4445" y="0"/>
                </a:moveTo>
                <a:cubicBezTo>
                  <a:pt x="4530" y="0"/>
                  <a:pt x="4573" y="42"/>
                  <a:pt x="4573" y="127"/>
                </a:cubicBezTo>
                <a:lnTo>
                  <a:pt x="4573" y="839"/>
                </a:lnTo>
                <a:cubicBezTo>
                  <a:pt x="4573" y="924"/>
                  <a:pt x="4530" y="966"/>
                  <a:pt x="4445" y="966"/>
                </a:cubicBezTo>
                <a:lnTo>
                  <a:pt x="127" y="966"/>
                </a:lnTo>
                <a:cubicBezTo>
                  <a:pt x="42" y="966"/>
                  <a:pt x="0" y="924"/>
                  <a:pt x="0" y="839"/>
                </a:cubicBezTo>
                <a:lnTo>
                  <a:pt x="0" y="127"/>
                </a:lnTo>
                <a:cubicBezTo>
                  <a:pt x="0" y="42"/>
                  <a:pt x="42" y="0"/>
                  <a:pt x="127" y="0"/>
                </a:cubicBezTo>
                <a:lnTo>
                  <a:pt x="4445" y="0"/>
                </a:lnTo>
                <a:close/>
              </a:path>
            </a:pathLst>
          </a:custGeom>
          <a:solidFill>
            <a:srgbClr val="fff0f0"/>
          </a:solidFill>
          <a:ln w="12600">
            <a:solidFill>
              <a:srgbClr val="e74b3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315200" y="1774080"/>
            <a:ext cx="1463040" cy="41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e74b3b"/>
                </a:solidFill>
                <a:latin typeface="Calibri-Bold"/>
                <a:ea typeface="Calibri-Bold"/>
              </a:rPr>
              <a:t>3.0%  Slightly degraded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274320" y="2240280"/>
            <a:ext cx="4297680" cy="1965960"/>
          </a:xfrm>
          <a:prstGeom prst="rect">
            <a:avLst/>
          </a:prstGeom>
          <a:ln w="0">
            <a:noFill/>
          </a:ln>
        </p:spPr>
      </p:pic>
      <p:pic>
        <p:nvPicPr>
          <p:cNvPr id="273" name="" descr=""/>
          <p:cNvPicPr/>
          <p:nvPr/>
        </p:nvPicPr>
        <p:blipFill>
          <a:blip r:embed="rId2"/>
          <a:stretch/>
        </p:blipFill>
        <p:spPr>
          <a:xfrm>
            <a:off x="4663440" y="2240280"/>
            <a:ext cx="4297680" cy="1965960"/>
          </a:xfrm>
          <a:prstGeom prst="rect">
            <a:avLst/>
          </a:prstGeom>
          <a:ln w="0">
            <a:noFill/>
          </a:ln>
        </p:spPr>
      </p:pic>
      <p:sp>
        <p:nvSpPr>
          <p:cNvPr id="274" name=""/>
          <p:cNvSpPr txBox="1"/>
          <p:nvPr/>
        </p:nvSpPr>
        <p:spPr>
          <a:xfrm>
            <a:off x="320040" y="4297680"/>
            <a:ext cx="8503920" cy="2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No query regressed more than 1.5×  ·  All degraded queries remained below 900ms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11480" y="9000"/>
            <a:ext cx="832104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RESULTS — TOP IMPROVEMENTS &amp; CASE STUDIES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11480" y="274320"/>
            <a:ext cx="832104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0c1a29"/>
                </a:solidFill>
                <a:latin typeface="Calibri-Bold"/>
                <a:ea typeface="Calibri-Bold"/>
              </a:rPr>
              <a:t>Top Query Improvements &amp; Case Studies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274320" y="914400"/>
            <a:ext cx="5029200" cy="2606040"/>
          </a:xfrm>
          <a:prstGeom prst="rect">
            <a:avLst/>
          </a:prstGeom>
          <a:ln w="0">
            <a:noFill/>
          </a:ln>
        </p:spPr>
      </p:pic>
      <p:sp>
        <p:nvSpPr>
          <p:cNvPr id="279" name=""/>
          <p:cNvSpPr/>
          <p:nvPr/>
        </p:nvSpPr>
        <p:spPr>
          <a:xfrm>
            <a:off x="5440680" y="914400"/>
            <a:ext cx="3429360" cy="987840"/>
          </a:xfrm>
          <a:custGeom>
            <a:avLst/>
            <a:gdLst/>
            <a:ahLst/>
            <a:rect l="0" t="0" r="r" b="b"/>
            <a:pathLst>
              <a:path w="9526" h="2744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2541"/>
                </a:lnTo>
                <a:cubicBezTo>
                  <a:pt x="9526" y="2676"/>
                  <a:pt x="9458" y="2744"/>
                  <a:pt x="9322" y="2744"/>
                </a:cubicBezTo>
                <a:lnTo>
                  <a:pt x="203" y="2744"/>
                </a:lnTo>
                <a:cubicBezTo>
                  <a:pt x="68" y="2744"/>
                  <a:pt x="0" y="2676"/>
                  <a:pt x="0" y="25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8fafc"/>
          </a:solidFill>
          <a:ln w="19080">
            <a:solidFill>
              <a:srgbClr val="00a8a8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577840" y="969120"/>
            <a:ext cx="315468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a8a8"/>
                </a:solidFill>
                <a:latin typeface="Calibri-Bold"/>
                <a:ea typeface="Calibri-Bold"/>
              </a:rPr>
              <a:t>AGG_Q029  558.6×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577840" y="1243440"/>
            <a:ext cx="3154680" cy="2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101.89ms → 0.18ms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577840" y="1463040"/>
            <a:ext cx="315468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lineitem full scan (600K rows) → after indexing l_shipdate: only ~1,200 rows scanned.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5440680" y="1993320"/>
            <a:ext cx="3429360" cy="987840"/>
          </a:xfrm>
          <a:custGeom>
            <a:avLst/>
            <a:gdLst/>
            <a:ahLst/>
            <a:rect l="0" t="0" r="r" b="b"/>
            <a:pathLst>
              <a:path w="9526" h="2744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2541"/>
                </a:lnTo>
                <a:cubicBezTo>
                  <a:pt x="9526" y="2676"/>
                  <a:pt x="9458" y="2744"/>
                  <a:pt x="9322" y="2744"/>
                </a:cubicBezTo>
                <a:lnTo>
                  <a:pt x="203" y="2744"/>
                </a:lnTo>
                <a:cubicBezTo>
                  <a:pt x="68" y="2744"/>
                  <a:pt x="0" y="2676"/>
                  <a:pt x="0" y="25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8fafc"/>
          </a:solidFill>
          <a:ln w="19080">
            <a:solidFill>
              <a:srgbClr val="3398db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577840" y="2048400"/>
            <a:ext cx="315468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3398db"/>
                </a:solidFill>
                <a:latin typeface="Calibri-Bold"/>
                <a:ea typeface="Calibri-Bold"/>
              </a:rPr>
              <a:t>COM_Q157  409.6×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577840" y="2322720"/>
            <a:ext cx="3154680" cy="2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41,188ms → 100.55ms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577840" y="2541960"/>
            <a:ext cx="315468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Repeated full scans on orders (150K rows) in subquery → after indexing o_custkey: index lookups.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5440680" y="3072240"/>
            <a:ext cx="3429360" cy="987840"/>
          </a:xfrm>
          <a:custGeom>
            <a:avLst/>
            <a:gdLst/>
            <a:ahLst/>
            <a:rect l="0" t="0" r="r" b="b"/>
            <a:pathLst>
              <a:path w="9526" h="2744">
                <a:moveTo>
                  <a:pt x="9322" y="0"/>
                </a:moveTo>
                <a:cubicBezTo>
                  <a:pt x="9458" y="0"/>
                  <a:pt x="9526" y="68"/>
                  <a:pt x="9526" y="203"/>
                </a:cubicBezTo>
                <a:lnTo>
                  <a:pt x="9526" y="2541"/>
                </a:lnTo>
                <a:cubicBezTo>
                  <a:pt x="9526" y="2676"/>
                  <a:pt x="9458" y="2744"/>
                  <a:pt x="9322" y="2744"/>
                </a:cubicBezTo>
                <a:lnTo>
                  <a:pt x="203" y="2744"/>
                </a:lnTo>
                <a:cubicBezTo>
                  <a:pt x="68" y="2744"/>
                  <a:pt x="0" y="2676"/>
                  <a:pt x="0" y="254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9322" y="0"/>
                </a:lnTo>
                <a:close/>
              </a:path>
            </a:pathLst>
          </a:custGeom>
          <a:solidFill>
            <a:srgbClr val="f8fafc"/>
          </a:solidFill>
          <a:ln w="19080">
            <a:solidFill>
              <a:srgbClr val="f39c11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577840" y="3127320"/>
            <a:ext cx="315468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f39c11"/>
                </a:solidFill>
                <a:latin typeface="Calibri-Bold"/>
                <a:ea typeface="Calibri-Bold"/>
              </a:rPr>
              <a:t>TWO_Q177  88.6×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577840" y="3401640"/>
            <a:ext cx="3154680" cy="2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c1a29"/>
                </a:solidFill>
                <a:latin typeface="Calibri-Bold"/>
                <a:ea typeface="Calibri-Bold"/>
              </a:rPr>
              <a:t>28.99ms → 0.33ms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577840" y="3620880"/>
            <a:ext cx="3154680" cy="39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8b9bad"/>
                </a:solidFill>
                <a:latin typeface="Calibri"/>
                <a:ea typeface="Calibri"/>
              </a:rPr>
              <a:t>Two-table join with o_totalprice filter → full scans on both tables → after indexing: direct lookup.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274320" y="4224600"/>
            <a:ext cx="8595720" cy="475920"/>
          </a:xfrm>
          <a:custGeom>
            <a:avLst/>
            <a:gdLst/>
            <a:ahLst/>
            <a:rect l="0" t="0" r="r" b="b"/>
            <a:pathLst>
              <a:path w="23877" h="1322">
                <a:moveTo>
                  <a:pt x="23725" y="0"/>
                </a:moveTo>
                <a:cubicBezTo>
                  <a:pt x="23826" y="0"/>
                  <a:pt x="23877" y="51"/>
                  <a:pt x="23877" y="152"/>
                </a:cubicBezTo>
                <a:lnTo>
                  <a:pt x="23877" y="1170"/>
                </a:lnTo>
                <a:cubicBezTo>
                  <a:pt x="23877" y="1271"/>
                  <a:pt x="23826" y="1322"/>
                  <a:pt x="23725" y="1322"/>
                </a:cubicBezTo>
                <a:lnTo>
                  <a:pt x="152" y="1322"/>
                </a:lnTo>
                <a:cubicBezTo>
                  <a:pt x="51" y="1322"/>
                  <a:pt x="0" y="1271"/>
                  <a:pt x="0" y="1170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23725" y="0"/>
                </a:lnTo>
                <a:close/>
              </a:path>
            </a:pathLst>
          </a:custGeom>
          <a:solidFill>
            <a:srgbClr val="0c1a29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11480" y="4279320"/>
            <a:ext cx="832104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Calibri-Bold"/>
                <a:ea typeface="Calibri-Bold"/>
              </a:rPr>
              <a:t>Per-Category:  Aggregation 4.16×  ·  Complex 3.85×  ·  Single-Table 1.62×  ·  Two-Table 1.76×  ·  Three-Table 1.18×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9144360" cy="164880"/>
          </a:xfrm>
          <a:custGeom>
            <a:avLst/>
            <a:gdLst/>
            <a:ahLst/>
            <a:rect l="0" t="0" r="r" b="b"/>
            <a:pathLst>
              <a:path w="25401" h="458">
                <a:moveTo>
                  <a:pt x="0" y="0"/>
                </a:moveTo>
                <a:lnTo>
                  <a:pt x="25401" y="0"/>
                </a:lnTo>
                <a:lnTo>
                  <a:pt x="25401" y="458"/>
                </a:lnTo>
                <a:lnTo>
                  <a:pt x="0" y="458"/>
                </a:lnTo>
                <a:lnTo>
                  <a:pt x="0" y="0"/>
                </a:lnTo>
                <a:close/>
              </a:path>
            </a:pathLst>
          </a:custGeom>
          <a:solidFill>
            <a:srgbClr val="00a8a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Calibri-Bold"/>
                <a:ea typeface="Calibri-Bold"/>
              </a:rPr>
              <a:t>Conclusion &amp; Future Work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74320" y="960120"/>
            <a:ext cx="1189080" cy="439200"/>
          </a:xfrm>
          <a:custGeom>
            <a:avLst/>
            <a:gdLst/>
            <a:ahLst/>
            <a:rect l="0" t="0" r="r" b="b"/>
            <a:pathLst>
              <a:path w="3303" h="1220">
                <a:moveTo>
                  <a:pt x="3151" y="0"/>
                </a:moveTo>
                <a:cubicBezTo>
                  <a:pt x="3252" y="0"/>
                  <a:pt x="3303" y="51"/>
                  <a:pt x="3303" y="152"/>
                </a:cubicBezTo>
                <a:lnTo>
                  <a:pt x="3303" y="1067"/>
                </a:lnTo>
                <a:cubicBezTo>
                  <a:pt x="3303" y="1169"/>
                  <a:pt x="3252" y="1220"/>
                  <a:pt x="3151" y="1220"/>
                </a:cubicBezTo>
                <a:lnTo>
                  <a:pt x="152" y="1220"/>
                </a:lnTo>
                <a:cubicBezTo>
                  <a:pt x="51" y="1220"/>
                  <a:pt x="0" y="1169"/>
                  <a:pt x="0" y="106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3151" y="0"/>
                </a:lnTo>
                <a:close/>
              </a:path>
            </a:pathLst>
          </a:custGeom>
          <a:solidFill>
            <a:srgbClr val="00a8a8"/>
          </a:solidFill>
          <a:ln w="12600">
            <a:solidFill>
              <a:srgbClr val="00a8a8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20040" y="960120"/>
            <a:ext cx="109728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CV F1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0.9973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645920" y="1033200"/>
            <a:ext cx="7132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Gradient Boosting on 30 leakage-free EXPLAIN features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274320" y="1527120"/>
            <a:ext cx="1189080" cy="439200"/>
          </a:xfrm>
          <a:custGeom>
            <a:avLst/>
            <a:gdLst/>
            <a:ahLst/>
            <a:rect l="0" t="0" r="r" b="b"/>
            <a:pathLst>
              <a:path w="3303" h="1220">
                <a:moveTo>
                  <a:pt x="3151" y="0"/>
                </a:moveTo>
                <a:cubicBezTo>
                  <a:pt x="3252" y="0"/>
                  <a:pt x="3303" y="51"/>
                  <a:pt x="3303" y="152"/>
                </a:cubicBezTo>
                <a:lnTo>
                  <a:pt x="3303" y="1067"/>
                </a:lnTo>
                <a:cubicBezTo>
                  <a:pt x="3303" y="1169"/>
                  <a:pt x="3252" y="1220"/>
                  <a:pt x="3151" y="1220"/>
                </a:cubicBezTo>
                <a:lnTo>
                  <a:pt x="152" y="1220"/>
                </a:lnTo>
                <a:cubicBezTo>
                  <a:pt x="51" y="1220"/>
                  <a:pt x="0" y="1169"/>
                  <a:pt x="0" y="106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3151" y="0"/>
                </a:lnTo>
                <a:close/>
              </a:path>
            </a:pathLst>
          </a:custGeom>
          <a:solidFill>
            <a:srgbClr val="1cb953"/>
          </a:solidFill>
          <a:ln w="12600">
            <a:solidFill>
              <a:srgbClr val="1cb953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20040" y="1527120"/>
            <a:ext cx="109728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Beats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3/3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645920" y="1600200"/>
            <a:ext cx="7132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Outperforms all non-ML baselines with fewest false negatives (7 vs 9)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274320" y="2094120"/>
            <a:ext cx="1189080" cy="439200"/>
          </a:xfrm>
          <a:custGeom>
            <a:avLst/>
            <a:gdLst/>
            <a:ahLst/>
            <a:rect l="0" t="0" r="r" b="b"/>
            <a:pathLst>
              <a:path w="3303" h="1220">
                <a:moveTo>
                  <a:pt x="3151" y="0"/>
                </a:moveTo>
                <a:cubicBezTo>
                  <a:pt x="3252" y="0"/>
                  <a:pt x="3303" y="51"/>
                  <a:pt x="3303" y="152"/>
                </a:cubicBezTo>
                <a:lnTo>
                  <a:pt x="3303" y="1067"/>
                </a:lnTo>
                <a:cubicBezTo>
                  <a:pt x="3303" y="1169"/>
                  <a:pt x="3252" y="1220"/>
                  <a:pt x="3151" y="1220"/>
                </a:cubicBezTo>
                <a:lnTo>
                  <a:pt x="152" y="1220"/>
                </a:lnTo>
                <a:cubicBezTo>
                  <a:pt x="51" y="1220"/>
                  <a:pt x="0" y="1169"/>
                  <a:pt x="0" y="106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3151" y="0"/>
                </a:lnTo>
                <a:close/>
              </a:path>
            </a:pathLst>
          </a:custGeom>
          <a:solidFill>
            <a:srgbClr val="f39c11"/>
          </a:solidFill>
          <a:ln w="12600">
            <a:solidFill>
              <a:srgbClr val="f39c11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20040" y="2094120"/>
            <a:ext cx="109728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Ablat.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★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645920" y="2167200"/>
            <a:ext cx="7132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Index Coverage features are the most critical group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74320" y="2660760"/>
            <a:ext cx="1189080" cy="439200"/>
          </a:xfrm>
          <a:custGeom>
            <a:avLst/>
            <a:gdLst/>
            <a:ahLst/>
            <a:rect l="0" t="0" r="r" b="b"/>
            <a:pathLst>
              <a:path w="3303" h="1220">
                <a:moveTo>
                  <a:pt x="3151" y="0"/>
                </a:moveTo>
                <a:cubicBezTo>
                  <a:pt x="3252" y="0"/>
                  <a:pt x="3303" y="51"/>
                  <a:pt x="3303" y="152"/>
                </a:cubicBezTo>
                <a:lnTo>
                  <a:pt x="3303" y="1067"/>
                </a:lnTo>
                <a:cubicBezTo>
                  <a:pt x="3303" y="1169"/>
                  <a:pt x="3252" y="1220"/>
                  <a:pt x="3151" y="1220"/>
                </a:cubicBezTo>
                <a:lnTo>
                  <a:pt x="152" y="1220"/>
                </a:lnTo>
                <a:cubicBezTo>
                  <a:pt x="51" y="1220"/>
                  <a:pt x="0" y="1169"/>
                  <a:pt x="0" y="106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3151" y="0"/>
                </a:lnTo>
                <a:close/>
              </a:path>
            </a:pathLst>
          </a:custGeom>
          <a:solidFill>
            <a:srgbClr val="3398db"/>
          </a:solidFill>
          <a:ln w="12600">
            <a:solidFill>
              <a:srgbClr val="3398db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20040" y="2660760"/>
            <a:ext cx="109728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Speed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1.37×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645920" y="2734200"/>
            <a:ext cx="7132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Overall speedup · 2.59× avg · up to 558.6× individual improvement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274320" y="3227760"/>
            <a:ext cx="1189080" cy="439200"/>
          </a:xfrm>
          <a:custGeom>
            <a:avLst/>
            <a:gdLst/>
            <a:ahLst/>
            <a:rect l="0" t="0" r="r" b="b"/>
            <a:pathLst>
              <a:path w="3303" h="1220">
                <a:moveTo>
                  <a:pt x="3151" y="0"/>
                </a:moveTo>
                <a:cubicBezTo>
                  <a:pt x="3252" y="0"/>
                  <a:pt x="3303" y="51"/>
                  <a:pt x="3303" y="152"/>
                </a:cubicBezTo>
                <a:lnTo>
                  <a:pt x="3303" y="1067"/>
                </a:lnTo>
                <a:cubicBezTo>
                  <a:pt x="3303" y="1169"/>
                  <a:pt x="3252" y="1220"/>
                  <a:pt x="3151" y="1220"/>
                </a:cubicBezTo>
                <a:lnTo>
                  <a:pt x="152" y="1220"/>
                </a:lnTo>
                <a:cubicBezTo>
                  <a:pt x="51" y="1220"/>
                  <a:pt x="0" y="1169"/>
                  <a:pt x="0" y="1067"/>
                </a:cubicBezTo>
                <a:lnTo>
                  <a:pt x="0" y="152"/>
                </a:lnTo>
                <a:cubicBezTo>
                  <a:pt x="0" y="51"/>
                  <a:pt x="51" y="0"/>
                  <a:pt x="152" y="0"/>
                </a:cubicBezTo>
                <a:lnTo>
                  <a:pt x="3151" y="0"/>
                </a:lnTo>
                <a:close/>
              </a:path>
            </a:pathLst>
          </a:custGeom>
          <a:solidFill>
            <a:srgbClr val="9b58b6"/>
          </a:solidFill>
          <a:ln w="12600">
            <a:solidFill>
              <a:srgbClr val="9b58b6"/>
            </a:solidFill>
            <a:round/>
          </a:ln>
        </p:spPr>
        <p:txBody>
          <a:bodyPr lIns="96120" rIns="96120" tIns="51120" bIns="511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20040" y="3227760"/>
            <a:ext cx="109728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Auto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/>
            <a:r>
              <a:rPr b="1" lang="en-US" sz="900" spc="-1" strike="noStrike">
                <a:solidFill>
                  <a:srgbClr val="ffffff"/>
                </a:solidFill>
                <a:latin typeface="Calibri-Bold"/>
                <a:ea typeface="Calibri-Bold"/>
              </a:rPr>
              <a:t>34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645920" y="3300840"/>
            <a:ext cx="7132320" cy="29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e8edf2"/>
                </a:solidFill>
                <a:latin typeface="Calibri"/>
                <a:ea typeface="Calibri"/>
              </a:rPr>
              <a:t>Indexes generated and applied automatically — zero DBA input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320040" y="3886200"/>
            <a:ext cx="1737360" cy="32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a8a8"/>
                </a:solidFill>
                <a:latin typeface="Calibri-Bold"/>
                <a:ea typeface="Calibri-Bold"/>
              </a:rPr>
              <a:t>Future Work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20040" y="4206240"/>
            <a:ext cx="83210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8b9bad"/>
                </a:solidFill>
                <a:latin typeface="Calibri"/>
                <a:ea typeface="Calibri"/>
              </a:rPr>
              <a:t>SF-10/SF-100 evaluation  ·  Composite multi-column indexes  ·  PostgreSQL &amp; SQL Server validation  ·  Online RL adaptive tuning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4709160"/>
            <a:ext cx="9144360" cy="434880"/>
          </a:xfrm>
          <a:custGeom>
            <a:avLst/>
            <a:gdLst/>
            <a:ahLst/>
            <a:rect l="0" t="0" r="r" b="b"/>
            <a:pathLst>
              <a:path w="25401" h="1208">
                <a:moveTo>
                  <a:pt x="0" y="0"/>
                </a:moveTo>
                <a:lnTo>
                  <a:pt x="25401" y="0"/>
                </a:lnTo>
                <a:lnTo>
                  <a:pt x="25401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00797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20040" y="4773240"/>
            <a:ext cx="850392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Calibri-Bold"/>
                <a:ea typeface="Calibri-Bold"/>
              </a:rPr>
              <a:t>Thank you!  Questions welcome  ·  ssarwar@troy.edu  ·  Department of CS, Troy University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